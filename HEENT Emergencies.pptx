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2.xml" ContentType="application/vnd.openxmlformats-officedocument.presentationml.tags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7"/>
  </p:notesMasterIdLst>
  <p:handoutMasterIdLst>
    <p:handoutMasterId r:id="rId108"/>
  </p:handoutMasterIdLst>
  <p:sldIdLst>
    <p:sldId id="724" r:id="rId2"/>
    <p:sldId id="725" r:id="rId3"/>
    <p:sldId id="726" r:id="rId4"/>
    <p:sldId id="727" r:id="rId5"/>
    <p:sldId id="729" r:id="rId6"/>
    <p:sldId id="730" r:id="rId7"/>
    <p:sldId id="732" r:id="rId8"/>
    <p:sldId id="736" r:id="rId9"/>
    <p:sldId id="737" r:id="rId10"/>
    <p:sldId id="739" r:id="rId11"/>
    <p:sldId id="740" r:id="rId12"/>
    <p:sldId id="741" r:id="rId13"/>
    <p:sldId id="742" r:id="rId14"/>
    <p:sldId id="743" r:id="rId15"/>
    <p:sldId id="744" r:id="rId16"/>
    <p:sldId id="745" r:id="rId17"/>
    <p:sldId id="859" r:id="rId18"/>
    <p:sldId id="860" r:id="rId19"/>
    <p:sldId id="871" r:id="rId20"/>
    <p:sldId id="861" r:id="rId21"/>
    <p:sldId id="862" r:id="rId22"/>
    <p:sldId id="755" r:id="rId23"/>
    <p:sldId id="756" r:id="rId24"/>
    <p:sldId id="764" r:id="rId25"/>
    <p:sldId id="765" r:id="rId26"/>
    <p:sldId id="766" r:id="rId27"/>
    <p:sldId id="767" r:id="rId28"/>
    <p:sldId id="867" r:id="rId29"/>
    <p:sldId id="771" r:id="rId30"/>
    <p:sldId id="772" r:id="rId31"/>
    <p:sldId id="773" r:id="rId32"/>
    <p:sldId id="774" r:id="rId33"/>
    <p:sldId id="775" r:id="rId34"/>
    <p:sldId id="777" r:id="rId35"/>
    <p:sldId id="778" r:id="rId36"/>
    <p:sldId id="864" r:id="rId37"/>
    <p:sldId id="872" r:id="rId38"/>
    <p:sldId id="873" r:id="rId39"/>
    <p:sldId id="779" r:id="rId40"/>
    <p:sldId id="780" r:id="rId41"/>
    <p:sldId id="781" r:id="rId42"/>
    <p:sldId id="782" r:id="rId43"/>
    <p:sldId id="783" r:id="rId44"/>
    <p:sldId id="784" r:id="rId45"/>
    <p:sldId id="868" r:id="rId46"/>
    <p:sldId id="786" r:id="rId47"/>
    <p:sldId id="787" r:id="rId48"/>
    <p:sldId id="788" r:id="rId49"/>
    <p:sldId id="790" r:id="rId50"/>
    <p:sldId id="791" r:id="rId51"/>
    <p:sldId id="792" r:id="rId52"/>
    <p:sldId id="793" r:id="rId53"/>
    <p:sldId id="794" r:id="rId54"/>
    <p:sldId id="795" r:id="rId55"/>
    <p:sldId id="798" r:id="rId56"/>
    <p:sldId id="799" r:id="rId57"/>
    <p:sldId id="800" r:id="rId58"/>
    <p:sldId id="801" r:id="rId59"/>
    <p:sldId id="802" r:id="rId60"/>
    <p:sldId id="803" r:id="rId61"/>
    <p:sldId id="804" r:id="rId62"/>
    <p:sldId id="874" r:id="rId63"/>
    <p:sldId id="805" r:id="rId64"/>
    <p:sldId id="806" r:id="rId65"/>
    <p:sldId id="807" r:id="rId66"/>
    <p:sldId id="808" r:id="rId67"/>
    <p:sldId id="809" r:id="rId68"/>
    <p:sldId id="810" r:id="rId69"/>
    <p:sldId id="811" r:id="rId70"/>
    <p:sldId id="812" r:id="rId71"/>
    <p:sldId id="813" r:id="rId72"/>
    <p:sldId id="814" r:id="rId73"/>
    <p:sldId id="818" r:id="rId74"/>
    <p:sldId id="819" r:id="rId75"/>
    <p:sldId id="820" r:id="rId76"/>
    <p:sldId id="870" r:id="rId77"/>
    <p:sldId id="821" r:id="rId78"/>
    <p:sldId id="822" r:id="rId79"/>
    <p:sldId id="823" r:id="rId80"/>
    <p:sldId id="824" r:id="rId81"/>
    <p:sldId id="825" r:id="rId82"/>
    <p:sldId id="826" r:id="rId83"/>
    <p:sldId id="827" r:id="rId84"/>
    <p:sldId id="828" r:id="rId85"/>
    <p:sldId id="829" r:id="rId86"/>
    <p:sldId id="830" r:id="rId87"/>
    <p:sldId id="831" r:id="rId88"/>
    <p:sldId id="832" r:id="rId89"/>
    <p:sldId id="834" r:id="rId90"/>
    <p:sldId id="875" r:id="rId91"/>
    <p:sldId id="836" r:id="rId92"/>
    <p:sldId id="837" r:id="rId93"/>
    <p:sldId id="838" r:id="rId94"/>
    <p:sldId id="839" r:id="rId95"/>
    <p:sldId id="840" r:id="rId96"/>
    <p:sldId id="841" r:id="rId97"/>
    <p:sldId id="842" r:id="rId98"/>
    <p:sldId id="876" r:id="rId99"/>
    <p:sldId id="844" r:id="rId100"/>
    <p:sldId id="845" r:id="rId101"/>
    <p:sldId id="846" r:id="rId102"/>
    <p:sldId id="847" r:id="rId103"/>
    <p:sldId id="848" r:id="rId104"/>
    <p:sldId id="849" r:id="rId105"/>
    <p:sldId id="850" r:id="rId106"/>
  </p:sldIdLst>
  <p:sldSz cx="9144000" cy="6858000" type="screen4x3"/>
  <p:notesSz cx="6858000" cy="9144000"/>
  <p:custDataLst>
    <p:tags r:id="rId109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orient="horz" pos="2448">
          <p15:clr>
            <a:srgbClr val="A4A3A4"/>
          </p15:clr>
        </p15:guide>
        <p15:guide id="3" orient="horz" pos="912">
          <p15:clr>
            <a:srgbClr val="A4A3A4"/>
          </p15:clr>
        </p15:guide>
        <p15:guide id="4" orient="horz" pos="2736">
          <p15:clr>
            <a:srgbClr val="A4A3A4"/>
          </p15:clr>
        </p15:guide>
        <p15:guide id="5" orient="horz" pos="2256">
          <p15:clr>
            <a:srgbClr val="A4A3A4"/>
          </p15:clr>
        </p15:guide>
        <p15:guide id="6" pos="2880">
          <p15:clr>
            <a:srgbClr val="A4A3A4"/>
          </p15:clr>
        </p15:guide>
        <p15:guide id="7" pos="5328">
          <p15:clr>
            <a:srgbClr val="A4A3A4"/>
          </p15:clr>
        </p15:guide>
        <p15:guide id="8" pos="43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ssica Sturtevant" initials="JS" lastIdx="21" clrIdx="0"/>
  <p:cmAuthor id="2" name="Janet K" initials="JK" lastIdx="1" clrIdx="1"/>
  <p:cmAuthor id="3" name="Sheri Polley" initials="SP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61"/>
    <a:srgbClr val="00578A"/>
    <a:srgbClr val="1C398D"/>
    <a:srgbClr val="B3B3B3"/>
    <a:srgbClr val="F0D9BA"/>
    <a:srgbClr val="FF0000"/>
    <a:srgbClr val="F3702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27" autoAdjust="0"/>
    <p:restoredTop sz="70438" autoAdjust="0"/>
  </p:normalViewPr>
  <p:slideViewPr>
    <p:cSldViewPr>
      <p:cViewPr varScale="1">
        <p:scale>
          <a:sx n="51" d="100"/>
          <a:sy n="51" d="100"/>
        </p:scale>
        <p:origin x="1890" y="78"/>
      </p:cViewPr>
      <p:guideLst>
        <p:guide orient="horz" pos="4032"/>
        <p:guide orient="horz" pos="2448"/>
        <p:guide orient="horz" pos="912"/>
        <p:guide orient="horz" pos="2736"/>
        <p:guide orient="horz" pos="2256"/>
        <p:guide pos="2880"/>
        <p:guide pos="5328"/>
        <p:guide pos="432"/>
      </p:guideLst>
    </p:cSldViewPr>
  </p:slideViewPr>
  <p:outlineViewPr>
    <p:cViewPr>
      <p:scale>
        <a:sx n="25" d="100"/>
        <a:sy n="25" d="100"/>
      </p:scale>
      <p:origin x="0" y="54571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commentAuthors" Target="commentAuthor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gs" Target="tags/tag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599D83E-491B-42EE-A920-CA2FD3D50CF9}" type="datetimeFigureOut">
              <a:rPr lang="en-US" altLang="en-US"/>
              <a:pPr>
                <a:defRPr/>
              </a:pPr>
              <a:t>7/28/2017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7A878385-E327-48B7-A034-E41B787834B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E2CA45E-9C36-43B2-8BFE-F204F729F413}" type="datetimeFigureOut">
              <a:rPr lang="en-US" altLang="en-US"/>
              <a:pPr>
                <a:defRPr/>
              </a:pPr>
              <a:t>7/28/2017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309A49D-60B2-4906-BBEE-D6232159B5A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D76EE0B-6EAE-4A22-B950-A01D34A633D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 smtClean="0"/>
              <a:t>Chapter 19: Diseases of the Eyes, Ears, Nose, and Throat</a:t>
            </a:r>
          </a:p>
          <a:p>
            <a:r>
              <a:rPr lang="en-US" altLang="en-US" dirty="0" smtClean="0"/>
              <a:t>Comprehensive Lecture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9E91DA8-C5EE-4E0F-A8D6-DA21CF895EB2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National EMS Education Standard Competencies</a:t>
            </a:r>
          </a:p>
          <a:p>
            <a:endParaRPr lang="en-US" altLang="en-US" b="1" dirty="0" smtClean="0"/>
          </a:p>
          <a:p>
            <a:r>
              <a:rPr lang="en-US" altLang="en-US" b="1" dirty="0" smtClean="0"/>
              <a:t>Medicine</a:t>
            </a:r>
            <a:endParaRPr lang="en-US" altLang="en-US" dirty="0" smtClean="0"/>
          </a:p>
          <a:p>
            <a:r>
              <a:rPr lang="en-US" altLang="en-US" dirty="0" smtClean="0"/>
              <a:t>Integrates assessment findings with principles of epidemiology and pathophysiology to formulate a field impression and  implement a comprehensive treatment/disposition plan for a patient with a medical complaint. 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4D3263-C732-42D8-B4C7-24191CF2C0E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National EMS Education Standard Competencies</a:t>
            </a:r>
          </a:p>
          <a:p>
            <a:endParaRPr lang="en-US" altLang="en-US" b="1" i="1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b="1" i="1" dirty="0" smtClean="0"/>
              <a:t>Diseases of the Eyes, Ears, Nose, and Throat</a:t>
            </a:r>
            <a:endParaRPr lang="en-US" altLang="en-US" b="0" i="0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Knowledge of the anatomy, physiology, epidemiology, pathophysiology, psychosocial impact, presentations, prognosis, and management of</a:t>
            </a:r>
          </a:p>
          <a:p>
            <a:pPr marL="342900" marR="0" lvl="0" indent="-342900">
              <a:spcBef>
                <a:spcPts val="600"/>
              </a:spcBef>
              <a:spcAft>
                <a:spcPts val="600"/>
              </a:spcAft>
              <a:buSzPts val="1200"/>
              <a:buFont typeface="Times New Roman" panose="02020603050405020304" pitchFamily="18" charset="0"/>
              <a:buChar char="•"/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Common or major diseases of the eyes, ears, nose and throat, including nosebleed (pp 1144-1163)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166D4FB-5E35-47B7-9165-95051B2278B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I. Introduction</a:t>
            </a: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Paramedics may respond to calls involving disorders of the eyes, ears, nose, and throat (EENT).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A significant number of these calls involve trauma.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Familiarity with EENT conditions will help when assessing the patient.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Also allows you to educate the patient on prevention or potential care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Patients may need to be transported to an emergency department with access to an eye specialist or an ear, nose, and throat specialist.</a:t>
            </a:r>
          </a:p>
          <a:p>
            <a:pPr marL="228600"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6B1AD7F-0EF0-4E60-B001-A87815D26DE8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12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 The Eyes</a:t>
            </a: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Anatomy and physiology review</a:t>
            </a:r>
          </a:p>
          <a:p>
            <a:pPr marL="457200" marR="0" indent="-228600">
              <a:spcBef>
                <a:spcPts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Connection to the brain by two nerves</a:t>
            </a:r>
          </a:p>
          <a:p>
            <a:pPr marL="457200" marR="0" indent="-228600">
              <a:spcBef>
                <a:spcPts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Oculomotor nerve (third cranial nerve)</a:t>
            </a:r>
          </a:p>
          <a:p>
            <a:pPr marL="685800" marR="0" indent="-228600">
              <a:spcBef>
                <a:spcPts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Innervates the muscles that cause motion of the eyeballs and upper eyelids</a:t>
            </a:r>
          </a:p>
          <a:p>
            <a:pPr marL="685800" marR="0" indent="-228600">
              <a:spcBef>
                <a:spcPts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Carries parasympathetic nerve fibers that cause constriction of the pupil and accommodation of the lens</a:t>
            </a:r>
          </a:p>
          <a:p>
            <a:pPr marL="457200" marR="0" indent="-228600">
              <a:spcBef>
                <a:spcPts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Optic nerve (second cranial nerve)</a:t>
            </a:r>
          </a:p>
          <a:p>
            <a:pPr marL="685800" marR="0" indent="-228600">
              <a:spcBef>
                <a:spcPts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Provides the sense of vision</a:t>
            </a:r>
          </a:p>
          <a:p>
            <a:pPr marL="228600"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209B46-8E4A-4BD1-8052-8DF13707140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 smtClean="0"/>
              <a:t>This figure shows the structures of the eye.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068069-47DF-4FA4-A2A7-71C3A2C176A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dirty="0" smtClean="0"/>
              <a:t>This figure shows the lacrimal system of tear glands and ducts.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0D720DC-CB6B-4A0C-8AB8-8BBA11DDA9E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Patient assessment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Ensure scene safety.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Keep your patient calm.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Form a general impression.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Note environmental clues at the scene.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Note the approximate age and sex of the patient.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Note the patient’s degree of distress.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Assess airway and breathing.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Rule out life threats.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Do not be distracted by a swollen, irritated eye and miss priorities.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	Early transport may improve outcomes.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	Cover both eyes to limit damage to the affected eye through sympathetic movement.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	Consider pain management.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	Cardiac monitoring is recommended.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Ocular pressure can stimulate the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vagus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nerve.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Eye drops/medication can cause side effects such as low or high blood pressure.</a:t>
            </a:r>
          </a:p>
          <a:p>
            <a:pPr marL="228600" indent="-228600" eaLnBrk="1" hangingPunct="1">
              <a:tabLst>
                <a:tab pos="2286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D35599-F315-4514-B962-32B27F24055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r>
              <a:rPr lang="en-US" altLang="en-US" sz="200" dirty="0" smtClean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Berkeley-Book"/>
              </a:rPr>
              <a:t> </a:t>
            </a:r>
            <a:r>
              <a:rPr lang="en-US" altLang="en-US" sz="1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Berkeley-Book"/>
              </a:rPr>
              <a:t>Lecture Outline 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342900" algn="l"/>
              </a:tabLst>
            </a:pPr>
            <a:endParaRPr lang="en-US" altLang="en-US" sz="1400" dirty="0" smtClean="0">
              <a:latin typeface="Times New Roman" panose="02020603050405020304" pitchFamily="18" charset="0"/>
              <a:ea typeface="Times New Roman" panose="02020603050405020304" pitchFamily="18" charset="0"/>
              <a:cs typeface="Berkeley-Book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	Provide emotional care for the patient.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10.	Obtain the chief complaint and history.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OPQRST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How and when did symptoms begin?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What symptoms are experienced?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Are both eyes affected?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Are there any underlying diseases or conditions of the eye?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11.	Symptoms that may indicate a serious ocular condition include: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Visual loss that does not improve when the patient blinks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Double vision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Severe eye pain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Foreign body sensation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12.	Perform a thorough examination.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Use standard precautions.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Avoid aggravating the affected area.</a:t>
            </a:r>
          </a:p>
          <a:p>
            <a:pPr eaLnBrk="1" hangingPunct="1">
              <a:tabLst>
                <a:tab pos="342900" algn="l"/>
              </a:tabLst>
            </a:pPr>
            <a:endParaRPr lang="en-US" altLang="en-US" dirty="0" smtClean="0">
              <a:ea typeface="Times New Roman" panose="02020603050405020304" pitchFamily="18" charset="0"/>
              <a:cs typeface="Berkeley-Book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73EA11B-F493-4496-BD94-506E0F5C0E4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 for: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Pain or tenderness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Swelling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Abnormal movement or loss of movement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Sensation changes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Circulatory changes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Deformity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vii.	Visual changes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viii.	Airway compromise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75B69ED-9E22-4B14-B78A-EEFB0EA6379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	Assess the following visible ocular structures: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Orbital rim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Ecchymosis, swelling, lacerations, tenderness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Eyelids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Ecchymosis, swelling, lacerations, abnormalities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Corneas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Foreign bodies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2FA1AB8-6B1B-4F28-87F5-BF37C16EC2DD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Conjunctivae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Redness, pus, inflammation, foreign bodies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Globes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Redness, abnormal pigmentation, lacerations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Eye surface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Growths, discoloration, differences between eyes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g.	Pupils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PERRLA (pupils equal, round, reactive to light and accommodation)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7ECFFF3-B867-4327-8557-E20D9596701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14.	When assessing ocular function, perform the following tests: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Visual acuity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Assess ability to see large and small letters.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Test each eye separately and document results.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Peripheral vision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Test the ability to recognize an object entering the extremes of the visual field.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Ocular motility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Check the ability to move the eyes in all directions.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Check for paralysis of gaze or discoordination between the movements of the two eyes (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dysconjugate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gaze).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B66A9A8-54C7-4509-982F-88CAD896D07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15.	Obtain a full set of baseline vital signs.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Reassess every 5–15 minutes depending upon the patient’s condition.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16.	The patient may experience adverse effects if he or she: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Uses more than one eye medication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Uses too much medication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17.	Ask the patient how he or she administered any medication he or she has used.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Generally recommended to wait 5 minutes between the first and second drop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7B6870-B109-42D9-97A7-B0A7E25CA07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18.	Eye drops are used for: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Conjunctivitis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Dry, red, or itchy eyes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Eye pain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Glaucoma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Eye surgery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Herpes simplex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g.	Corneal abrasions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h.	Lubrication/tear production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19.	Eye drops and lubricants can be applied by: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Gently squeezing the lower eyelid to make a pouch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Applying the medication into the lower lid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Having the patient close the eyes and roll them downward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Applying gentle pressure to the corner of the eyes to prevent drainage of the medication from the eye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20.	Ask patients which medications they have already taken.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FDFBBC4-F932-496E-93A3-DC756126B95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21.	Irrigation may be necessary for chemical or thermal burns.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Use sterile water or isotonic saline solution.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Flush liquid from the inside corner to the outside of the eye.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22.	Eye injuries should be seen in the emergency department.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23.	Eye injuries may be irreversible.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Communication is key to keeping the patient calm and informed.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Early decisions to transport can improve some outcomes.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Early communication with medical control can help direct your care.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24. Some patients will be wearing contact lenses.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The only indication for removing contact lenses in the prehospital setting is a chemical burn of the eye.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Three types of contact lenses: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Hard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Rigid gas permeable</a:t>
            </a:r>
            <a:r>
              <a:rPr lang="x-none" sz="1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Soft (hydrophilic)</a:t>
            </a:r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2A2B49-05EB-4B73-8754-85F49B80FAA5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685800" indent="-6858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685800" indent="-6858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To remove a hard contact lens: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Use a small suction cup, moistening the end with saline.</a:t>
            </a:r>
          </a:p>
          <a:p>
            <a:pPr marL="685800" indent="-6858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107E9A4-4B78-4AC6-9541-0D4944480DE5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685800" indent="-6858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685800" indent="-6858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To remove soft lenses: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Place one to two drops of saline in the eye.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Gently pinch the lens between your gloved thumb and index finger, and lift it off the surface of the eye.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Advise emergency department staff if a patient is wearing contact lenses.</a:t>
            </a:r>
          </a:p>
          <a:p>
            <a:pPr marL="685800" indent="-6858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96FF2C-ECAC-4BC3-90BC-DFEEB63FE0C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914400" indent="-9144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 Lecture Outline </a:t>
            </a:r>
          </a:p>
          <a:p>
            <a:pPr marL="914400" indent="-9144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25.	Suspect the patient has an eye prosthesis (artificial eye) if: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The eye does not respond to light.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The eye does not move in concert with the opposite eye.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The eye does not appear quite the same as the opposite eye.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The patient says he or she has one (if you are unsure, ask the patient).</a:t>
            </a:r>
          </a:p>
          <a:p>
            <a:pPr marL="914400" indent="-9144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7ECD900-5584-45D0-B669-48DFFDD2C44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90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26.	Practitioners in a hospital or physician’s office may use an ophthalmoscope.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Rarely used by paramedics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Consists of a concave mirror and a battery-powered light, usually contained in the device’s handle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 rotating selection of lenses and adjustable depth and magnification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Effective evaluation of the eye with this device requires: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Dilation of the patient’s pupil with medication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Significant diagnostic expertise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Steps for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 (refer to Skill</a:t>
            </a:r>
            <a:r>
              <a:rPr lang="en-US" sz="1200" baseline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Drill 19-1)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Darken the environment and ask the patient to look straight ahead and focus on a distant object.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Set the light on the ophthalmoscope to a setting no brighter than necessary and the lens to 0, unless another setting works better for your eyes.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Use your right hand and eye to examine the patient’s right eye.</a:t>
            </a:r>
          </a:p>
          <a:p>
            <a:pPr marL="914400" marR="0" indent="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Use your left hand and eye to examine the patient’s left eye.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Place the scope to your eye and look into the patient’ pupil from 10 to 20 inches (25 to 51 cm) away at a 45° angle to the eye.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You should see the retina as a “red reflex,” or a bright orange glow.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Slowly move toward the patient to appreciate the structures of the fundus.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Adjust the lens as needed to improve the focus.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Locate a blood vessel and follow it back to the disk.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Use this blood vessel as a point of reference.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Inspect for the size, color, and clarity of the disk.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Note the integrity of the blood vessels and any lesions present on the retina.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Move nasally to observe the macula.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  <a:tab pos="685800" algn="l"/>
                <a:tab pos="914400" algn="l"/>
                <a:tab pos="11430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Repeat the process with the other eye.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290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6E773F2-BB7E-44AA-B1F7-8EBCC1ABFA5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82A337-E6E9-453E-9F90-21AC93A2C737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6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Pathophysiology, assessment, and management of specific eye conditions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Conjunctivitis (“pink eye”)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Condition where the conjunctiva (thin layer that lines inside of the eyelids and white of the eye) becomes inflamed and red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Most often starts in one eye and spread to the other eye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Most often caused by bacteria, viruses, allergies, chemicals, or foreign bodies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Viral conjunctivitis is often associated with an upper respiratory virus.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Bacterial conjunctivitis is caused by bacterial infections.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Viral and bacterial forms are highly contagious.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Allergic conjunctivitis is caused by a trigger or irritating allergen, such as pollen.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Chlorine in swimming pools and air pollution are potential causes of chemical conjunctivitis.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If conjunctivitis is due to a foreign body, the eye will begin to produce tears in an attempt to flush out the object.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213A285-6317-4AA2-8416-CE14276AF116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Perform a general assessment of the patient’s vision.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Visual acuity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External eye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Pupils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Peripheral vision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Eye movement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Viral conjunctivitis normally resolves on its own.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Bacterial conjunctivitis requires a topical antibiotic.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Severe allergic conjunctivitis may need nonsteroidal anti-inflammatory drugs (NSAIDs), antihistamines, and topical steroid eye drops.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8745C6E-1F45-4EA0-9B4D-281EECAF47F2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Inflammation of the eyelid (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chalazion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hordeolum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 protective film of oil glands and oil ducts across the eye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Chalazion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Small swollen bump or pustule on the external eyelid formed by blockage and swelling of oil gland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Hordeolum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Infection of an oil gland that produces a red tender lump in the eyelid or at the lid margin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Commonly known as a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stye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7CD84DC-A157-4D2E-AB82-D99F23A8E39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 Lecture Outline 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 thorough assessment of vital signs, history, and transport for physician evaluation is warranted.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The patient will usually be asked to apply warm compresses for 5 to 10 minutes several times a day.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Topical or oral antibiotics may be prescribed.</a:t>
            </a:r>
          </a:p>
          <a:p>
            <a:pPr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EA29594-8C09-4A4D-B09B-4FEFC033D82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 Lecture Outline 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Glaucoma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Group of conditions that lead to increased intraocular pressure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One of the leading causes of blindness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Aqueous humor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Clear, watery fluid that fills the eye’s anterior chamber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Maintains intraocular pressure, provides nutrients to the inner surface of the eye, and helps to bend light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Circulates through the pupil and drains into the venous system by the canal of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Schlemm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Several types of glaucoma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Open-angle glaucoma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Aqueous fluid drains too slowly.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Pressure builds up within the eye and damages the optic nerve.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This is the most common type of glaucoma.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Normal-tension glaucoma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Can cause vision changes with no increase in intraocular pressure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Narrow-angle glaucoma (also called angle-closure glaucoma)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Aqueous fluid does not drain properly due to narrowing of the drainage channel.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Pressure builds up in the posterior chamber of the eye, which pushes the lens forward.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The lens pushes the iris into the drainage channel, completely blocking it.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Secondary glaucoma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result of conditions that damage the drainage channel in the eye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Diabetes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Eye injuries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Leukemia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Sickle cell anemia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Some types of arthritis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Cataracts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Increases with age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Usually treated with eye drops to reduce ocular pressures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20B17D9-9FCB-417F-8DCF-6DAC1AB9274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Patient complaints may involve: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Loss of field of vision (specifically peripheral vision)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Patients who have an acute attack of narrow-angle glaucoma may report: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Severe eye pain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Headache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Photophobia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Nausea and vomiting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Blurred vision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Halos around lights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The cornea may look cloudy and pupils often have irregular margins and can be fixed in mid-position and dilated.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Acute narrow-angle glaucoma is a medical emergency.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Rule out trauma or physical injury.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Perform a general eye assessment.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Document pertinent negatives and abnormal findings.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An ophthalmologist will perform a more comprehensive assessment.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	All patients with eye injuries or conditions should be taken to the emergency department for follow-up.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61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Central retinal artery occlusion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Condition in which the blood supply to the retina becomes blocked because of a clot or embolus in the central retinal artery or one of its branches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Possible causes: embolus from the carotid artery,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valvular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heart disease, drug abuse, fat emboli, arterial spasm, and oral contraceptive use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May cause partial blindness, which may be temporary or permanent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Patients with central retinal artery occlusion usually seek medical assistance because of a sudden, painless loss of vision in one eye.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Symptoms may be preceded by flickering or a transient loss of vision weeks or months before the acute event.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Vision loss in central retinal vein occlusion may progress over 30 to 120 minutes.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Immediate transport in a situation involving a rapid loss of vision</a:t>
            </a:r>
          </a:p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361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2D4557-F0AA-435D-816B-85BB1D195E1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FE45E95-4E84-4BAF-9070-A83B37498A29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29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	Iritis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Inflammation of the iris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Also called anterior uveitis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Third leading preventable cause of blindness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Can be acute or chronic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Acute—caused by trauma or irritants and usually affects only one eye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Chronic causes include: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Autoimmune diseases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Different types of arthritis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Irritable bowel disease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Crohn’s disease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Infectious causes include: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Lyme disease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Tuberculosis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Sexually transmitted diseases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EA39EA7-45D6-443A-9C64-F5BCFC106C2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Iritis presents as a red area surrounding the iris, cloudy vision, or an unusually shaped pupil.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Focus on history.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Patients should be directed to a uveitis specialist or an ocular immunologist.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Acute iritis usually responds well to topical corticosteroids as long as the cause is not fungal, viral, or bacterial.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Ninety different pathogens or autoimmune processes can cause chronic or recurrent iritis.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Patients should be referred to a specialist.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Iritis can result in permanent disability if left untreated.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B4D5F7D-F531-48BB-8810-A58D1E25574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	Papilledema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Results from swelling or inflammation of the optic nerve at the rear part of the eye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Symptoms: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Headaches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Nausea with possible vomiting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Temporary vision loss or narrowing vision fields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A graying in the field of vision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A585D9F-FDB6-471F-89C2-6C9DDFFFF69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Can be caused by: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Abscess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Tumor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Inner ear infection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Lung infection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Dental infection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Other causes: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Meningitis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Fever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Hypertensive crisis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Chronic high blood pressure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Guillain-Barré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syndrome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9F8C4AA-E2A2-4BCD-8511-A1EF14DE485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Diagnosis will be made by an ophthalmologist or physician.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Prehospital management consists of: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Treating symptoms.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Transporting.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Assessing ABCs.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Assessing for life threats.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Administering analgesics or a mild sedative, if needed.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7A24E55-1212-4DA5-9B50-BE720F978F7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	Cellulitis of the orbit: Periorbital and orbital cellulitis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Commonly caused by </a:t>
            </a:r>
            <a:r>
              <a:rPr lang="en-US" sz="12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Staphylococcus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</a:t>
            </a:r>
            <a:r>
              <a:rPr lang="en-US" sz="12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Streptococcus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bacterial infections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Periorbital cellulitis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More prevalent in children than adults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Also known as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preseptal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cellulitis or eyelid cellulitis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Presents as a painful, red, swollen eyelid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Fever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Redness of part of the white part of the eyes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Predisposed risk factors: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Insect bites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Upper respiratory disorders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Trauma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Orbital cellulitis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An infection within the eye socket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Considered a medical emergency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Goal of treatment: to avoid the formation of an abscess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Predisposed risk factors: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Sinusitis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Tooth infections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Facial or middle ear infections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Trauma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Sinus infections</a:t>
            </a:r>
          </a:p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6FF1CE9-4236-49D5-AFA7-1437865EB2F9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Treatment in children is usually IV antibiotics.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Adults are generally treated with oral antibiotics.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Prehospital management includes: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Ruling out life threats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Obtaining a thorough history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Transporting the patient to the appropriate care site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D02F37B-C74F-4FFC-9D91-9FC200AFADD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	Corneal abrasion or ulcer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Cornea: a transparent outer covering of the eye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The most common eye injury seen in emergency departments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Caused by direct trauma, foreign bodies, contact lenses, or exposure to ultraviolet radiation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Ulcer development without prompt treatment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Can cause blindness if left untreated.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A5C05FB-F57E-4248-BC2C-CB4B2EC00B39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Pain with extraocular movement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Redness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Excessive tearing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Sensation of having something foreign in the eye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Blurred vision or loss of vision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Photophobia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(g)	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Headache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52305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Lecture</a:t>
            </a:r>
            <a:r>
              <a:rPr lang="en-US" baseline="0" dirty="0" smtClean="0"/>
              <a:t> Outline</a:t>
            </a:r>
          </a:p>
          <a:p>
            <a:endParaRPr lang="en-US" baseline="0" dirty="0" smtClean="0"/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Prehospital management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Rule out life threats.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Take a thorough history.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Transport promptly.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9A49D-60B2-4906-BBEE-D6232159B5AB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8892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5CCC665-0984-4F82-B3A0-CF74960E43E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39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12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 The Ears</a:t>
            </a: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The primary structures for hearing and balance</a:t>
            </a:r>
          </a:p>
          <a:p>
            <a:pPr marL="457200" marR="0" indent="-228600">
              <a:spcBef>
                <a:spcPts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Disorders and injuries can leave a person unable to communicate, react, and maintain equilibrium.</a:t>
            </a:r>
          </a:p>
          <a:p>
            <a:pPr marL="685800" marR="0" indent="-228600">
              <a:spcBef>
                <a:spcPts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Changes in air pressure can cause ear discomfort.</a:t>
            </a:r>
          </a:p>
          <a:p>
            <a:pPr marL="685800" marR="0" indent="-228600">
              <a:spcBef>
                <a:spcPts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Tumors on cranial nerves can affect the inner ear and balance, facial sensation, eye movement, facial movement, taste, and hearing.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ECA2175-3E56-4AE3-B6E9-2C8C3350199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Anatomy and physiology review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The ear is divided into three anatomic parts.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External ear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Pinna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External auditory canal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External portion of the tympanic membrane (eardrum)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Middle ear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Inner portion of the tympanic membrane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Ossicles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Inner ear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Cochlea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Semicircular canals</a:t>
            </a:r>
          </a:p>
          <a:p>
            <a:pPr marL="228600" indent="-228600" eaLnBrk="1" hangingPunct="1">
              <a:tabLst>
                <a:tab pos="2286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D91286C-2982-4B9C-9576-0D874ED78E6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Sound waves travel through the ear, and then the internal ear structures form nerve impulses that travel to the brain via the auditory nerve.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The brain converts these impulses into sound.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3A20599E-2785-4A12-9711-5D22707D1D6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6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Patient assessment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Possible ear injuries include the following: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Foreign objects forced into the auditory canal can damage the eardrum.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Ear infections may cause the eardrum to blister and bleed; inner ear infections may cause pressure behind the eardrum.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Blast pressure waves can burst the eardrum.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Observe the scene to rule out hazards to EMS personnel and crew.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As you approach, assess: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Approximate age and sex of the patient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Environmental conditions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Patient’s degree of distress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Whether the patient is wearing a hearing aid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C3F3A1-A0B5-4854-B9B2-620D9AD3DEE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Ensure airway patency, breathing adequacy, and circulation.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	Manage life threats.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	Take a complete history.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	Observe ears for: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Drainage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Excess cerumen (earwax)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Inflammation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Swelling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372607-3CC4-4648-B019-C3E68811686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	Have the patient rate his or her pain using OPQRST.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Include pertinent negatives.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	Ask the patient about: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Changes in hearing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Tinnitus (ringing in the ears)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Dizziness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10.	Inspect and palpate for: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Wounds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Swelling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Drainage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Pus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Blood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Cerebrospinal fluid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Battle sign (discoloration and tenderness) of the mastoid process of the skull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11.	An otoscope is used to visualize abnormalities of the external canal and tympanic membrane.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An otoscope consists of a head and a handle.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The head contains an electric light source and a low-power magnifying lens.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The front of the headpiece has an attachment for a disposable plastic earpiece (speculum).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The examiner inserts the speculum into the ear and looks through a lens on the rear of the headpiece.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Typically, paramedics must work in an expanded scope of practice and receive additional training from their medical director to use an otoscope.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Refer to Skill Drill 19-2.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12.	Even if you are trained in the use of an otoscope and it is included in your scope of practice, transport the patient to receive a complete assessment of the external ear canal and middle ear.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13.	Document and communicate your findings.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  <p:sp>
        <p:nvSpPr>
          <p:cNvPr id="1525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B63AC86-0A5D-4E0D-9F1D-C509064A292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45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0640543-9043-436C-A217-2A4A38E4EEA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6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Pathophysiology, assessment, and management of specific ear conditions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Impacted cerumen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Yellowish, oily substance found in the outer ear canal (earwax)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Helps prevent dirt and water from entering the middle ear canal and may protect the ear from bacteria or fungus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May present as: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(a)</a:t>
            </a:r>
            <a:r>
              <a:rPr lang="en-US" sz="1400" baseline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Wet—a sticky brown color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(b)</a:t>
            </a:r>
            <a:r>
              <a:rPr lang="en-US" sz="1400" baseline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Dry—a grayish flaky substance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 Can become</a:t>
            </a:r>
            <a:r>
              <a:rPr lang="en-US" sz="1400" baseline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impacted and cause pressure against the eardrum</a:t>
            </a:r>
            <a:endParaRPr lang="en-US" sz="14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B7FED71-5E1A-459C-B840-B43ED9D16BB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More common in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older adults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Other risk factors: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Abnormal ear canal shape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Diseases that cause increased production of cerumen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Keratosis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Improper use of cotton swabs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Sensation of pressure or fullness in the ears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Dizziness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Ringing in the ears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Loss of hearing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Pain or itching in the ears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10A3C9C-36F5-42A2-A001-2272DBAE3607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Prehospital treatment includes: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Thorough history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Visual inspection of the ear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Treatment is aimed at removing the excess cerumen.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Do not attempt to extract the material yourself.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If left untreated, infection and irritation can occur.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Follow-up is necessary.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solidFill>
                <a:srgbClr val="000000"/>
              </a:solidFill>
            </a:endParaRP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B0C5DE9-ADC9-4BE0-AF41-CDDFAF15AE8D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49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Labyrinthitis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Most commonly recognized as the feeling of vertigo or loss of balance after an ear infection or upper respiratory infection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Effect on the nerves of the inner ear and a loss of balance from irritation and swelling of the inner ear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Other symptoms: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Ringing in the ears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Dizziness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Loss of hearing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Nausea</a:t>
            </a:r>
          </a:p>
          <a:p>
            <a:pPr marL="9144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Vomiting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A122A41-84F8-40A8-888A-B0E26D3D434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Prehospital treatment is directed at: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Reducing the severity of the nausea and vomiting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Transporting the patient in a position of comfort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Serious disorders will need to be ruled out by a CT scan and an MRI.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Hospital treatment includes: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Antiemetic for nausea and vomiting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Antihistamine for swelling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Antivertigo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medicine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Diazepam as sedative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7560C41-ADEF-423C-A29B-659FD8DDD3F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Meniere disease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Chronic condition of the inner ear characterized by: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Dizziness described as spinning vertigo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Low-frequency hearing loss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Tinnitus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Feeling of fullness in the affected ear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Involves the overproduction and defective absorption of endolymphatic fluid, which increases the volume and pressure within the labyrinth of the inner ear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Distention results in rupture and mixing of the endolymph and perilymph fluids.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This mixture disrupts the balance of fluid and electrolytes within the labyrinth and damages the vestibular and cochlear hair cells.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Attacks of less than 2 hours in the early stages; altered balance up to 2 days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As the disease progresses, symptoms last hours to days.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Permanent tinnitus, moderate to severe hearing loss, and chronic unsteadiness may result.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120452A-A3C1-44D0-A58E-C5CB181E47F7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Prehospital care includes treating the nausea and vomiting with an antiemetic.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The physician may treat with diuretics and an antiemetic.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12E65C8-AB28-460D-B08D-0EF3B4767C1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Otitis externa and media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Infection that results from bacterial growth in the ear canal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Otitis externa—infection of the outer ear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Otitis media—infection of the middle ear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More common in children than adults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Most commonly bacterial infections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Otitis externa can also be an allergic or fungal reaction.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Otitis media can be virally induced.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7E8789B-7CE7-4FF3-BD27-AB64C8C1859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Signs and symptoms: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Pain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Itching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Edema and erythema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Diminished hearing acuity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Inflamed, bulging tympanic membrane on exam with otoscope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Prehospital treatment should be directed at relieving unbearable symptoms.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Monitor the patient’s condition and administer pain medication when necessary.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In the hospital setting, antibiotics may be administered.</a:t>
            </a:r>
          </a:p>
          <a:p>
            <a:pPr marL="1143000" marR="0" indent="-228600">
              <a:spcBef>
                <a:spcPts val="0"/>
              </a:spcBef>
              <a:spcAft>
                <a:spcPts val="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If symptoms do not improve,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tympanocentesis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(needle aspiration) may be performed.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0E2B28-1462-4949-BC14-EBCCC1A6519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12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36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 The Nose</a:t>
            </a: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Susceptible to injury because of prominent location on the face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The nose acts as a filter, humidifier, and heater for air that enters the body.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Allergens, particles, and chemicals can cause inflammation, infection, and injury.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Complications from nasal disorders are common.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Can lead to systemic infections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The inside of the nose is extremely vascular.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Excellent route for some medicines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Faster than intravenous administration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C18BEA4-2CB5-4453-A1C4-8C25EED434B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Loss of smelling sensation has many causes.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Aging, smoking, allergies, rhinitis, polyps, flu, medications, traumatic brain injury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Smelling disorders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Anosmia (total loss of sense of smell)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Dysosmia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(distorted sense of smell)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Hyperosmia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(increased sensitivity to smell)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Hyposmia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(decreased sense of smell)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Presbyosmia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(loss of smell from normal aging)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6017A1F-20A6-4E3E-A9E7-324050DAA055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6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Anatomy and physiology review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One of two primary entry points for oxygen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Warms and humidifies air as it enters the body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12854E7-B9D9-4A2E-A550-6929DF6398D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Contains bony structures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Connected with the sinuses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9EC7357-C34F-4445-9864-7468ED8EBB26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59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ct val="0"/>
              </a:spcBef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Patient assessment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Look for environmental clues.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Ensure that the scene is safe.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Determine whether airway and breathing are sufficient.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Determine the patient’s level of distress.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	The vascular nature of the nasal cavities makes them susceptible to bleeding.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 severe nosebleed or condition that blocks the airway with swelling or blood is a life-threatening condition.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2ED150F-AB95-408E-99D3-2DD878AB3469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	Insert an airway adjunct as needed.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Do not insert a nasopharyngeal airway or attempt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nasotracheal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intubation in any patient with: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Suspected nasal fractures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CSF or blood leakage from the nose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	Inquire about a previous history of nose conditions or bleeding.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	Always consider a hypertensive crisis when an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older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 has a nosebleed.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CAEA1BF-11BF-4B53-8DE0-21A7011AE5C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Pathophysiology, assessment, and management of specific nose conditions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Epistaxis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Nosebleed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Most common cause digital trauma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Other causes include: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Dryness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Hypertension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Lecture Outline</a:t>
            </a:r>
          </a:p>
          <a:p>
            <a:endParaRPr lang="en-US" dirty="0" smtClean="0"/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Two types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Anterior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Most typically occur in the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Kiesselbach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plexus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Usually self-limiting and resolve quickly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Posterior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Usually more severe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</a:t>
            </a:r>
            <a:r>
              <a:rPr lang="en-US" sz="1400" baseline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Often cause blood to drain into the patient’s throat, causing nausea and vomiting</a:t>
            </a: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9A49D-60B2-4906-BBEE-D6232159B5AB}" type="slidenum">
              <a:rPr lang="en-US" altLang="en-US" smtClean="0"/>
              <a:pPr/>
              <a:t>62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406147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F821E3F-F12A-4B7C-93C0-BFE24849930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Try to estimate the amount of blood loss and relay this information to the staff at the receiving facility.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Place a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nontrauma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patient in a sitting position, leaning forward, and pinch his or her nostrils together.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Direct the patient not to sniff or blow his or her nose.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80EA7C3-D229-4624-9B42-2E4104DC5BD6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Foreign body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Most likely to be seen in pediatric patients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Pressure in the nasal passage can cause: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Tissue necrosis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Inflammation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Swelling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Tissue ulceration and epistaxis caused by inflammation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Sinusitis caused by nasal blockage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41792FB-9DC9-4324-A3F0-409739454BA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Determine if the foreign body presents a life-threatening condition.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You may be able to see only one end of the object or not see it at all.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Any persistent, foul-smelling, purulent discharge from the nares should lead to suspicion of a foreign body.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If you note discharge from the nose, let it drain.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Transport the patient in a position of comfort.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Limit the ability of gravity to introduce the object further into the cavity.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Prevent aspiration.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Pain management or sedation may be necessary.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Consultation with medical control is advised.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603978-A886-46EE-8008-5FDDE80E6612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Rhinitis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Inflammation of the nasal cavity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May be caused by bacterial or viral infection, allergens, medications, or changes in environmental temperature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Can also be caused by: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Certain medications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Foreign bodies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Irritants in the air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Hormonal changes in pregnancy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6D70CB7-CD64-4C3B-90D9-E7BFA8650F12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Signs and 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Nasal congestion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Sneezing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Itchy runny nose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Itchy eyes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Postnasal drip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Cough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Keep the patient in the Fowler position.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Provide transport.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BBD02F7-3F06-4BD0-854E-F58068BE68C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Sinusitis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Sinus inflammation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Occurs when drainage from the sinuses becomes disrupted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Sinuses become colonized with nasal bacteria and infected.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Facial pressure and pain, sore throat, nasal congestion, toothache, headache, fever, chills, and muscle aches and pains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Affects 29.3 million adult Americans per year according to the CDC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Young children and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older adults are more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susceptible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F91F4F8-E60B-4AA7-B567-75EE13A8449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69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The condition can be chronic, acute, or recurrent.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Prehospital management should include treatment of any respiratory compromise and transport.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Treatment is aimed at reducing inflammation and draining the sinuses.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Mild to moderate symptoms can be treated with a saline rinse and decongestant.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Antibiotics are typically prescribed after 7 to 10 days.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6D10D46-DEAF-4892-9BE8-8DE18E28F116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7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71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sz="20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12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36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 The Throat</a:t>
            </a: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Acute inflammation and infections, chronic inflammation, or abnormal growths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Specific disorders include: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Vocal cord polyps and nodules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Contact ulcers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Vocal cord paralysis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Laryngoceles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Laryngeal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papillomas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Cancer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Throat infections are common in children.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Throat problems can be exacerbated by swallowing problems.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Cranial nerves VI, VII, IX, and XII all play a role in swallowing.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Neurologic problems associated with stroke or trauma can cause swallowing difficulty.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Aspiration pneumonia is a life-threatening condition.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Prehospital treatment of aspiration involves maintaining a patent airway, ensuring adequate breathing, close monitoring of vital signs, and prompt transport for definitive care.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sz="2000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D6DEF32-FD50-4198-A79E-7FA95147C155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8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8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Esophageal disorders can affect the throat.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The valve at the end of the esophagus keeps acidic stomach contents from coming back up the throat.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In esophageal reflux, the valve only partially closes or opens too much.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Burning sensation in the chest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Indigestion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Change in voice tone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Can cause a precancerous condition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0F4421F-1E77-4289-B656-E78DBDA62C9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79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9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Anatomy and physiology review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Assessment begins at the opening of the mouth with the teeth.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7BCF31B-4AC6-4138-A50F-EE0E8FF36749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57200" marR="0" lvl="0" indent="-228600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  <a:defRPr/>
            </a:pP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</a:rPr>
              <a:t>2.	Hypoglossal, glossopharyngeal, trigeminal, and facial nerves supply the mouth and its structures.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7329BA2-9D78-45D6-8629-6F260AA5601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1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1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The neck consists of the anterior and posterior portions.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The anterior part of the neck includes: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Thyroid and cricoid cartilage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Trachea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Numerous muscles and nerves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BAD4EC5-4505-47D0-A6DC-E2719DAFD95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2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22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Major blood vessels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Internal and external carotid arteries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Internal and external jugular veins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Vertebral arteries run laterally to the cervical vertebrae in the posterior part of the neck.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This figure shows the veins of the neck.</a:t>
            </a:r>
          </a:p>
        </p:txBody>
      </p:sp>
      <p:sp>
        <p:nvSpPr>
          <p:cNvPr id="183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8E01872-4DD8-4091-A57B-452002110EB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>
                <a:spcBef>
                  <a:spcPct val="0"/>
                </a:spcBef>
              </a:pPr>
              <a:t>76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09FF7C7-397F-4B8E-B200-FDC4E830137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4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Patient assessment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Patients with swallowing abnormalities or copious mucous production should be placed in a position to allow drainage.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Lateral recumbent or recovery position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Assessing stroke patients must include early recognition of airway threats.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For patients who cannot protect their airways and are at risk for aspiration into the lungs, intubation should be considered.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In your assessments, you should consider epiglottitis if there are symptoms of: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Sore throat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Drooling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 forward-hanging head</a:t>
            </a:r>
          </a:p>
          <a:p>
            <a:pPr marL="228600" indent="-228600" eaLnBrk="1" hangingPunct="1">
              <a:tabLst>
                <a:tab pos="2286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D8630FA-ACA6-4829-9EF8-A4BAED59837B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altLang="en-US" sz="1400" dirty="0" smtClean="0">
                <a:latin typeface="Times New Roman" panose="02020603050405020304" pitchFamily="18" charset="0"/>
              </a:rPr>
              <a:t>Lecture Outline 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  <a:p>
            <a:pPr marL="228600" marR="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6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Pathophysiology, assessment, and management of specific throat conditions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	Dentalgia and dental abscess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Dentalgia (toothache) can be the start of a dental abscess.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 dental abscess occurs when bacteria growth spreads directly from a cavity into the gums, facial tissue, bones, and/or neck.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It may have to be drained surgically.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tabLst>
                <a:tab pos="228600" algn="l"/>
              </a:tabLst>
            </a:pPr>
            <a:endParaRPr lang="en-US" altLang="en-US" sz="1400" b="1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984F59-5C0B-43F2-BF2C-7C6D4DF325A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79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Infection may have become systemic if the patient has: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Fever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Chills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Nausea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Vomiting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An abscess in the throat, neck, or under the tongue can affect the ability to breathe.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Prehospital treatment is aimed at relieving the symptoms.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Drainage into the mouth should be rinsed with warm water.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Encourage transport.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D2DCFE-17AB-4ABF-BC0D-5601B30306CD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7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73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	Diseases of oral soft tissue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Can be root cause of other health problems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Gum disease has been linked to heart disease, stroke, diabetes, and osteoporosis.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Some common mouth disorders: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Cold sores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Painful sores on the lips and around the mouth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Canker sores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Shallow, painful ulcers in the mouth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Oral candidiasis (thrush)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Yeast infection that causes white patches in the mouth or on the oral mucosa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Leukoplakia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Causes excess cell growth in mouth, cheek, or gums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Presents as white patches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Gingivitis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Red swollen gums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Bad breath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Usually linked to plaque and poor oral hygiene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E560520-CC3D-4635-BE50-6AB65185C26C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8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Rule out 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urticaria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allergic reactions.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0DFD049-1F3E-473C-8CBE-160C1408CFF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	Oral candidiasis (thrush)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Condition in which the fungus </a:t>
            </a:r>
            <a:r>
              <a:rPr lang="en-US" sz="12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Candida </a:t>
            </a:r>
            <a:r>
              <a:rPr lang="en-US" sz="1200" i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albicans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accumulates on the lining of the mouth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Creamy white lesions on the tongue and inner cheeks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May be painful and may bleed as they are rubbed or scraped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35C1DDE-7F2E-4F93-8D49-7CF612E7716F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0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0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Thrush is most likely to be found in: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Babies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Patients with compromised immune systems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Patients who wear dentures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Patients who use inhaled corticosteroids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EA0FFF0-832F-404F-8C56-8B7D9BF4C3F6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1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1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Additional symptoms include: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Pain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Cracking and redness at the corners of the mouth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Loss of taste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Cottony feeling in the mouth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In severe cases, lesions can move down the esophagus, causing the sensation that food is getting stuck in the throat when swallowing.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CBB65C8-5132-4A15-995B-95863663FC18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2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2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Patients at increased risk have a medical history of: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HIV/AIDS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Cancer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Diabetes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Vaginal yeast infections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Treat higher priorities.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Make the patient comfortable.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Encourage the patient to follow up with a physician.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vii.	Always use standard precautions.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F07FAD2-F43E-4431-97DD-E072CCBC506E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3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3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	Ludwig angina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Type of cellulitis caused by bacteria from an infected tooth root or mouth injury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Occurs on the floor of the mouth under the tongue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Rapid swelling and airway obstruction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Redness and swelling of the neck or under the chin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Tongue may be swollen.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e.	An airway through the nasal passages possibly needed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60D6ACA-192D-49C1-ACFF-0301EF843B85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4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may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Difficulty breathing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Difficulty swallowing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Neck pain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Neck swelling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Fever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Drooling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(g)	Altered speech sounds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6D47328-254D-4356-99D5-E35BC604D42D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88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5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5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Prehospital treatment requires aggressive management of the airway in severe cases.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Contact medical control physician early 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Remain calm and organized.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Attend to basic ABCs.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vi.	Pay particular attention to the condition and smells originating in the mouth.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B4932C9-3F6E-4473-9277-7362B463FAA7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89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6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66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5.	Epiglottitis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Inflammation of the epiglottis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Blocks the trachea and obstructs the airway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Often result of the </a:t>
            </a:r>
            <a:r>
              <a:rPr lang="en-US" sz="1200" i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Haemophilus</a:t>
            </a:r>
            <a:r>
              <a:rPr lang="en-US" sz="12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i="1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influenzae</a:t>
            </a:r>
            <a:r>
              <a:rPr lang="en-US" sz="12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 b virus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Fever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Sore throat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Painful swallowing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Stridor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Respiratory distress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Signs include: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Patient will look sick and anxious.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Patient will sit upright in the classic tripod position or in the sniffing position.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Patient may be drooling.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Work of breathing is increased.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Pallor or cyanosis may be evident.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9A49D-60B2-4906-BBEE-D6232159B5AB}" type="slidenum">
              <a:rPr lang="en-US" altLang="en-US" smtClean="0"/>
              <a:pPr/>
              <a:t>90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935669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003510A-1827-492B-B169-6986846F7B0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8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86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Transport to an appropriate hospital while maintaining the airway.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Minimize scene time.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Do not attempt procedures that might agitate the patient.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Do not attempt to look in the mouth.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Alert receiving personnel of suspected diagnosis and patient’s condition.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B563E53-0713-43A8-A22E-3A96909F01FA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199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96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6.	Laryngitis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Swelling and inflammation of larynx associated with hoarseness or loss of voice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Can be the result of overuse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Most common form caused by a virus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Can also be caused by: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Pneumonia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Irritants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Chemicals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Gastroesophageal reflux disease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Bronchitis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Allergies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(g)	Bacterial infections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CFBA197-1C4F-4043-B633-83986F335E8D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0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07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Fever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Hoarseness</a:t>
            </a:r>
          </a:p>
          <a:p>
            <a:pPr marL="1143000" marR="0" indent="-228600">
              <a:spcBef>
                <a:spcPts val="150"/>
              </a:spcBef>
              <a:spcAft>
                <a:spcPts val="15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Swollen lymph nodes or glands in the neck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Obtain a good history to rule out evolving upper airway obstruction or an allergic reaction.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Consider fracture of the hyoid bone.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Have the patient follow up with a physician.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8EEAC39-57DD-4D17-BE5E-B4F25D09915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 </a:t>
            </a: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7.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Tracheitis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Bacterial infection of the trachea caused by </a:t>
            </a:r>
            <a:r>
              <a:rPr lang="en-US" sz="1200" i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Staphylococcus aureus</a:t>
            </a:r>
            <a:endParaRPr lang="en-US" sz="1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Frequently occurs in young children following a viral upper respiratory infection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The trachea is easily blocked by swelling.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It can be a life-threatening condition.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CEB9871-EA5A-4D7C-8E13-487177C8532E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2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27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Deep croup-like cough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Difficulty breathing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High fever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High-pitched stridor with breathing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Patients may exhibit: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Tripod positioning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Intercostal retractions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Can proceed from respiratory distress to respiratory failure if not addressed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4B28830-9BF1-40B7-BA65-7F0BAA73B933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96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3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37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Supportive prehospital care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Minimize stress to the patient.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Administer 100% oxygen.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Use pulse oximetry.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Monitor vital signs.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Be prepared for difficult intubation.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	Have the correct size ET tube as well as the next smaller size available.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Transport promptly to an appropriate facility.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8B0AA7B-A537-430D-95C2-96A83EEFA0F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97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4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8.	Tonsillitis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Swelling and inflammation of the tonsils (oval-shaped pads of tissue at the back of the throat)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Usually caused by viral infections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Can also be caused by bacteria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 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Swollen tonsils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Sore throat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Difficulty swallowing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Patients will present with the following: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Red, swollen tonsils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White or yellow coating or patches on the tonsils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Fever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Sore throat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One or more of the following: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(1)	Pain when swallowing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(2)	Enlarged or tender lymph nodes in the neck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(3)	Bad breath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(4)	Headache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(5)	Stiff neck</a:t>
            </a:r>
          </a:p>
          <a:p>
            <a:pPr marL="13716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(6)	Drooling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Transport for further evaluation.</a:t>
            </a:r>
          </a:p>
          <a:p>
            <a:pPr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09A49D-60B2-4906-BBEE-D6232159B5AB}" type="slidenum">
              <a:rPr lang="en-US" altLang="en-US" smtClean="0"/>
              <a:pPr/>
              <a:t>98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3624155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BFA5892-9104-4623-B53E-FD31736E8BC4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99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6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68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9.	Pharyngitis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Inflammation of the pharynx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Often due to a rapid onset of sore throat without discomfort or pain with swallowing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7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20C4748-E979-4709-8C87-6512E3494419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100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7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787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Fever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Pharyngeal erythema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Headache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Purulent, patchy yellow, gray, or white exudate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Nasal congestion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Hoarseness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(g)	Cough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(h)	Ulcers on the soft palate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Treatment involves follow-up with the emergency department.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A major prehospital concern is assessment for partial airway obstruction.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9D0BF98-0FAF-4229-8C7C-1BA1AF020600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101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8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89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10.	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Peritonsillar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abscess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Collection of infected material around the tonsils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Complication of tonsillitis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BB2571A-8468-426F-9541-D17083296D95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102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09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99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One or both tonsils are infected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Roof of the mouth and neck or chest may be infected.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Patient may have: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Chills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Difficulty opening the mouth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Pain with opening the mouth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Facial swelling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Fever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Drooling or inability to swallow saliva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(g)	Headache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(h)	Muffled voice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	Sore throat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(j)	Tender glands of the jaw and throat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A85546D-C0A1-4B85-A19D-9DCA2FFE4261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103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10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09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iv.	Antibiotics and draining the abscess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May include tonsillectomy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v.	Hospital transport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In some cases, condition may be life threatening.</a:t>
            </a:r>
          </a:p>
          <a:p>
            <a:pPr indent="-228600" eaLnBrk="1" hangingPunct="1"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3574BC2-4E88-411C-AB6D-46EB4D25D12E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104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11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197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457200" marR="0" indent="-228600">
              <a:spcBef>
                <a:spcPts val="300"/>
              </a:spcBef>
              <a:spcAft>
                <a:spcPts val="30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11.	Temporomandibular joint disorders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	Temporomandibular joint (TMJ): Where the posterior condyle of the mandible articulates with the temporal bone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Allows movement of the mandible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Allows a patient to talk, chew, and yawn</a:t>
            </a: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b.	Causes of temporomandibular joint disorders include: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Arthritis damage to the joint’s cartilage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Jaw injury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iii.	Jaw muscle fatigue from grinding or clenching of the teeth</a:t>
            </a:r>
          </a:p>
          <a:p>
            <a:pPr indent="-228600" eaLnBrk="1" hangingPunct="1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E590B06-23B3-4583-B511-370481CD0212}" type="slidenum">
              <a:rPr lang="en-US" altLang="en-US">
                <a:latin typeface="Arial" panose="020B0604020202020204" pitchFamily="34" charset="0"/>
                <a:ea typeface="ヒラギノ角ゴ Pro W3" charset="-128"/>
              </a:rPr>
              <a:pPr algn="r" eaLnBrk="1" hangingPunct="1">
                <a:spcBef>
                  <a:spcPct val="0"/>
                </a:spcBef>
              </a:pPr>
              <a:t>105</a:t>
            </a:fld>
            <a:endParaRPr lang="en-US" altLang="en-US">
              <a:latin typeface="Arial" panose="020B0604020202020204" pitchFamily="34" charset="0"/>
              <a:ea typeface="ヒラギノ角ゴ Pro W3" charset="-128"/>
            </a:endParaRPr>
          </a:p>
        </p:txBody>
      </p:sp>
      <p:sp>
        <p:nvSpPr>
          <p:cNvPr id="212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29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altLang="en-US" dirty="0" smtClean="0">
                <a:latin typeface="Times New Roman" panose="02020603050405020304" pitchFamily="18" charset="0"/>
              </a:rPr>
              <a:t>Lecture Outline </a:t>
            </a:r>
          </a:p>
          <a:p>
            <a:pPr indent="-228600">
              <a:spcBef>
                <a:spcPct val="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>
              <a:latin typeface="Times New Roman" panose="02020603050405020304" pitchFamily="18" charset="0"/>
            </a:endParaRPr>
          </a:p>
          <a:p>
            <a:pPr marL="685800" marR="0" indent="-228600">
              <a:spcBef>
                <a:spcPts val="300"/>
              </a:spcBef>
              <a:spcAft>
                <a:spcPts val="300"/>
              </a:spcAft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c.	Assessment and management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</a:t>
            </a: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	Symptoms include: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	Headache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(b)	Jaw pain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(c)	Aching around the ear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(d)	An uneven bite and/or painful bite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(e)	Difficulty chewing</a:t>
            </a:r>
          </a:p>
          <a:p>
            <a:pPr marL="11430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(f)	Locking of the joint causing difficulty either opening or closing the mouth</a:t>
            </a:r>
          </a:p>
          <a:p>
            <a:pPr marL="914400" marR="0" indent="-228600">
              <a:spcBef>
                <a:spcPts val="300"/>
              </a:spcBef>
              <a:spcAft>
                <a:spcPts val="300"/>
              </a:spcAft>
              <a:tabLst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ii.	Usually managed by the patient’s physician or dentist</a:t>
            </a:r>
          </a:p>
          <a:p>
            <a:pPr indent="-228600" eaLnBrk="1" hangingPunct="1">
              <a:tabLst>
                <a:tab pos="6858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267200" y="3810000"/>
            <a:ext cx="4876800" cy="1752600"/>
          </a:xfrm>
          <a:gradFill rotWithShape="1">
            <a:gsLst>
              <a:gs pos="0">
                <a:srgbClr val="1C398D">
                  <a:alpha val="89999"/>
                </a:srgbClr>
              </a:gs>
              <a:gs pos="100000">
                <a:srgbClr val="00578A">
                  <a:alpha val="14000"/>
                </a:srgbClr>
              </a:gs>
            </a:gsLst>
            <a:lin ang="5400000" scaled="1"/>
          </a:gradFill>
        </p:spPr>
        <p:txBody>
          <a:bodyPr tIns="182880" rIns="91440" bIns="91440"/>
          <a:lstStyle>
            <a:lvl1pPr marL="0" indent="0">
              <a:buFontTx/>
              <a:buNone/>
              <a:defRPr sz="3200">
                <a:solidFill>
                  <a:schemeClr val="bg1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0" y="2130425"/>
            <a:ext cx="3886200" cy="14700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>
            <a:lvl1pPr algn="l">
              <a:defRPr>
                <a:solidFill>
                  <a:srgbClr val="FF6600"/>
                </a:solidFill>
                <a:latin typeface="Arial" charset="0"/>
                <a:ea typeface="ヒラギノ角ゴ Pro W3" charset="0"/>
                <a:cs typeface="ヒラギノ角ゴ Pro W3" charset="0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60213"/>
      </p:ext>
    </p:extLst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92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99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30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39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745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826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840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tIns="182880" rIns="91440" bIns="9144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6520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0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1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28600" tIns="228600" rIns="228600" bIns="13716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914400"/>
          </a:xfrm>
          <a:prstGeom prst="rect">
            <a:avLst/>
          </a:prstGeom>
          <a:noFill/>
          <a:ln>
            <a:noFill/>
          </a:ln>
          <a:effectLst>
            <a:outerShdw blurRad="63500" dist="12700" dir="2700000" algn="ctr" rotWithShape="0">
              <a:schemeClr val="tx1">
                <a:alpha val="73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/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ヒラギノ角ゴ Pro W3" charset="-128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ヒラギノ角ゴ Pro W3" pitchFamily="1" charset="-128"/>
          <a:cs typeface="ヒラギノ角ゴ Pro W3" charset="-128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ヒラギノ角ゴ Pro W3" pitchFamily="1" charset="-128"/>
          <a:cs typeface="ヒラギノ角ゴ Pro W3" charset="-128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ヒラギノ角ゴ Pro W3" pitchFamily="1" charset="-128"/>
          <a:cs typeface="ヒラギノ角ゴ Pro W3" charset="-128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charset="0"/>
          <a:ea typeface="ヒラギノ角ゴ Pro W3" pitchFamily="1" charset="-128"/>
          <a:cs typeface="ヒラギノ角ゴ Pro W3" charset="-128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F37021"/>
          </a:solidFill>
          <a:latin typeface="Arial" charset="0"/>
          <a:ea typeface="ヒラギノ角ゴ Pro W3" pitchFamily="1" charset="-128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F37021"/>
          </a:solidFill>
          <a:latin typeface="Arial" charset="0"/>
          <a:ea typeface="ヒラギノ角ゴ Pro W3" pitchFamily="1" charset="-128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F37021"/>
          </a:solidFill>
          <a:latin typeface="Arial" charset="0"/>
          <a:ea typeface="ヒラギノ角ゴ Pro W3" pitchFamily="1" charset="-128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 b="1">
          <a:solidFill>
            <a:srgbClr val="F37021"/>
          </a:solidFill>
          <a:latin typeface="Arial" charset="0"/>
          <a:ea typeface="ヒラギノ角ゴ Pro W3" pitchFamily="1" charset="-128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chemeClr val="bg1"/>
          </a:solidFill>
          <a:latin typeface="+mn-lt"/>
          <a:ea typeface="+mn-ea"/>
          <a:cs typeface="ヒラギノ角ゴ Pro W3" charset="-128"/>
        </a:defRPr>
      </a:lvl1pPr>
      <a:lvl2pPr marL="800100" indent="-342900" algn="l" rtl="0" eaLnBrk="0" fontAlgn="base" hangingPunct="0">
        <a:spcBef>
          <a:spcPct val="25000"/>
        </a:spcBef>
        <a:spcAft>
          <a:spcPct val="0"/>
        </a:spcAft>
        <a:buFont typeface="Lucida Grande" pitchFamily="34" charset="0"/>
        <a:buChar char="−"/>
        <a:defRPr sz="2400">
          <a:solidFill>
            <a:schemeClr val="bg1"/>
          </a:solidFill>
          <a:latin typeface="+mn-lt"/>
          <a:ea typeface="+mn-ea"/>
          <a:cs typeface="ヒラギノ角ゴ Pro W3" charset="-128"/>
        </a:defRPr>
      </a:lvl2pPr>
      <a:lvl3pPr marL="1143000" indent="-228600" algn="l" rtl="0" eaLnBrk="0" fontAlgn="base" hangingPunct="0">
        <a:spcBef>
          <a:spcPct val="25000"/>
        </a:spcBef>
        <a:spcAft>
          <a:spcPct val="0"/>
        </a:spcAft>
        <a:buChar char="•"/>
        <a:defRPr sz="2100">
          <a:solidFill>
            <a:schemeClr val="bg1"/>
          </a:solidFill>
          <a:latin typeface="+mn-lt"/>
          <a:ea typeface="+mn-ea"/>
          <a:cs typeface="ヒラギノ角ゴ Pro W3" charset="-128"/>
        </a:defRPr>
      </a:lvl3pPr>
      <a:lvl4pPr marL="1600200" indent="-228600" algn="l" rtl="0" eaLnBrk="0" fontAlgn="base" hangingPunct="0">
        <a:spcBef>
          <a:spcPct val="25000"/>
        </a:spcBef>
        <a:spcAft>
          <a:spcPct val="0"/>
        </a:spcAft>
        <a:buChar char="–"/>
        <a:defRPr sz="2100">
          <a:solidFill>
            <a:schemeClr val="bg1"/>
          </a:solidFill>
          <a:latin typeface="+mn-lt"/>
          <a:ea typeface="+mn-ea"/>
          <a:cs typeface="ヒラギノ角ゴ Pro W3" charset="-128"/>
        </a:defRPr>
      </a:lvl4pPr>
      <a:lvl5pPr marL="2057400" indent="-228600" algn="l" rtl="0" eaLnBrk="0" fontAlgn="base" hangingPunct="0">
        <a:spcBef>
          <a:spcPct val="25000"/>
        </a:spcBef>
        <a:spcAft>
          <a:spcPct val="0"/>
        </a:spcAft>
        <a:buChar char="»"/>
        <a:defRPr sz="2100">
          <a:solidFill>
            <a:schemeClr val="bg1"/>
          </a:solidFill>
          <a:latin typeface="+mn-lt"/>
          <a:ea typeface="+mn-ea"/>
          <a:cs typeface="ヒラギノ角ゴ Pro W3" charset="-128"/>
        </a:defRPr>
      </a:lvl5pPr>
      <a:lvl6pPr marL="2514600" indent="-228600" algn="l" rtl="0" eaLnBrk="0" fontAlgn="base" hangingPunct="0">
        <a:spcBef>
          <a:spcPct val="2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2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5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5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/>
        </p:nvSpPr>
        <p:spPr bwMode="auto">
          <a:xfrm>
            <a:off x="0" y="2895600"/>
            <a:ext cx="91440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1pPr>
            <a:lvl2pPr marL="800100" indent="-342900">
              <a:spcBef>
                <a:spcPct val="25000"/>
              </a:spcBef>
              <a:buChar char="–"/>
              <a:defRPr sz="24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2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0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0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000">
                <a:solidFill>
                  <a:schemeClr val="bg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19</a:t>
            </a:r>
            <a:b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Diseases of the Eyes, </a:t>
            </a:r>
            <a: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Ears</a:t>
            </a:r>
            <a:r>
              <a:rPr lang="en-US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Nose, and </a:t>
            </a:r>
            <a: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Throat</a:t>
            </a:r>
            <a:endParaRPr lang="en-US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74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National EMS Education Standard Competencies</a:t>
            </a: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en-US" b="1" dirty="0">
                <a:latin typeface="+mj-lt"/>
              </a:rPr>
              <a:t>Medicine</a:t>
            </a:r>
          </a:p>
          <a:p>
            <a:pPr marL="0" indent="0">
              <a:buFontTx/>
              <a:buNone/>
              <a:defRPr/>
            </a:pPr>
            <a:r>
              <a:rPr lang="en-US" altLang="en-US" dirty="0"/>
              <a:t>Integrates assessment findings with principles of epidemiology and pathophysiology to formulate a field impression and implement a comprehensive treatment/disposition plan for a patient with a medical complaint.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94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National EMS Education Standard Competencies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  <a:defRPr/>
            </a:pPr>
            <a:r>
              <a:rPr lang="en-US" altLang="en-US" b="1" dirty="0">
                <a:latin typeface="+mj-lt"/>
              </a:rPr>
              <a:t>Diseases of the Eyes, Ears, Nose, and Throat</a:t>
            </a:r>
          </a:p>
          <a:p>
            <a:pPr marL="0" indent="0">
              <a:buFontTx/>
              <a:buNone/>
              <a:defRPr/>
            </a:pPr>
            <a:r>
              <a:rPr lang="en-US" altLang="en-US" dirty="0"/>
              <a:t>Knowledge of the anatomy, physiology, epidemiology, pathophysiology, psychosocial impact, presentations, prognosis, and management of</a:t>
            </a:r>
          </a:p>
          <a:p>
            <a:pPr marL="1085850" lvl="1" indent="-457200">
              <a:buFont typeface="Lucida Grande" charset="0"/>
              <a:buChar char="−"/>
              <a:defRPr/>
            </a:pPr>
            <a:r>
              <a:rPr lang="en-US" altLang="en-US" dirty="0"/>
              <a:t>Common or major diseases of the eyes, ears, nose, and throat, including nose bleed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15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Introduction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Calls may involve disorders of the eyes, ears, nose, and throat (EENT).</a:t>
            </a:r>
          </a:p>
          <a:p>
            <a:pPr lvl="1"/>
            <a:r>
              <a:rPr lang="en-US" altLang="en-US" smtClean="0"/>
              <a:t>A significant number of calls involve trauma.</a:t>
            </a:r>
          </a:p>
          <a:p>
            <a:pPr lvl="1"/>
            <a:r>
              <a:rPr lang="en-US" altLang="en-US" smtClean="0"/>
              <a:t>Patients may need to be transported to an emergency department with access to a specialist.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56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 smtClean="0">
                <a:cs typeface="ヒラギノ角ゴ Pro W3" charset="0"/>
              </a:rPr>
              <a:t>The Eyes: Anatomy </a:t>
            </a:r>
            <a:r>
              <a:rPr lang="en-US" sz="3200" dirty="0">
                <a:cs typeface="ヒラギノ角ゴ Pro W3" charset="0"/>
              </a:rPr>
              <a:t>and Physiology </a:t>
            </a:r>
            <a:r>
              <a:rPr lang="en-US" sz="3200" dirty="0" smtClean="0">
                <a:cs typeface="ヒラギノ角ゴ Pro W3" charset="0"/>
              </a:rPr>
              <a:t>Review</a:t>
            </a:r>
            <a:endParaRPr lang="en-US" sz="3200" dirty="0">
              <a:cs typeface="ヒラギノ角ゴ Pro W3" charset="0"/>
            </a:endParaRPr>
          </a:p>
        </p:txBody>
      </p:sp>
      <p:sp>
        <p:nvSpPr>
          <p:cNvPr id="614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Oculomotor nerve (third cranial nerve)</a:t>
            </a:r>
          </a:p>
          <a:p>
            <a:pPr lvl="1"/>
            <a:r>
              <a:rPr lang="en-US" altLang="en-US" smtClean="0"/>
              <a:t>Causes motion of the eyeballs and upper eyelids</a:t>
            </a:r>
          </a:p>
          <a:p>
            <a:r>
              <a:rPr lang="en-US" altLang="en-US" smtClean="0"/>
              <a:t>Optic nerve (second cranial nerve)</a:t>
            </a:r>
          </a:p>
          <a:p>
            <a:pPr lvl="1"/>
            <a:r>
              <a:rPr lang="en-US" altLang="en-US" smtClean="0"/>
              <a:t>Provides the sense of vision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76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cs typeface="ヒラギノ角ゴ Pro W3" charset="0"/>
              </a:rPr>
              <a:t>The </a:t>
            </a:r>
            <a:r>
              <a:rPr lang="en-US" sz="3200" dirty="0" smtClean="0">
                <a:cs typeface="ヒラギノ角ゴ Pro W3" charset="0"/>
              </a:rPr>
              <a:t>Eyes: </a:t>
            </a:r>
            <a:r>
              <a:rPr lang="en-US" sz="3200" dirty="0">
                <a:cs typeface="ヒラギノ角ゴ Pro W3" charset="0"/>
              </a:rPr>
              <a:t>Anatomy and Physiology Review</a:t>
            </a:r>
          </a:p>
        </p:txBody>
      </p:sp>
      <p:pic>
        <p:nvPicPr>
          <p:cNvPr id="7171" name="Picture 3" descr="\\10.1.1.17\productions\ART\ART PROCESS\PPT Projects\Caroline_ITK_164887\Final PPT files\Batch 15\Batch 15\9781284137200_CH19_FIGF0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82700"/>
            <a:ext cx="7899400" cy="508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2" name="Rectangle 1"/>
          <p:cNvSpPr>
            <a:spLocks noChangeArrowheads="1"/>
          </p:cNvSpPr>
          <p:nvPr/>
        </p:nvSpPr>
        <p:spPr bwMode="auto">
          <a:xfrm>
            <a:off x="622300" y="6389688"/>
            <a:ext cx="14446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17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sz="3200" dirty="0">
                <a:cs typeface="ヒラギノ角ゴ Pro W3" charset="0"/>
              </a:rPr>
              <a:t>The </a:t>
            </a:r>
            <a:r>
              <a:rPr lang="en-US" sz="3200" dirty="0" smtClean="0">
                <a:cs typeface="ヒラギノ角ゴ Pro W3" charset="0"/>
              </a:rPr>
              <a:t>Eyes: </a:t>
            </a:r>
            <a:r>
              <a:rPr lang="en-US" sz="3200" dirty="0">
                <a:cs typeface="ヒラギノ角ゴ Pro W3" charset="0"/>
              </a:rPr>
              <a:t>Anatomy and Physiology Review</a:t>
            </a:r>
          </a:p>
        </p:txBody>
      </p:sp>
      <p:pic>
        <p:nvPicPr>
          <p:cNvPr id="8195" name="Picture 4" descr="\\10.1.1.17\productions\ART\ART PROCESS\PPT Projects\Caroline_ITK_164887\Final PPT files\Batch 15\Batch 15\9781284137200_CH19_FIGF0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371600"/>
            <a:ext cx="5930900" cy="473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3"/>
          <p:cNvSpPr>
            <a:spLocks noChangeArrowheads="1"/>
          </p:cNvSpPr>
          <p:nvPr/>
        </p:nvSpPr>
        <p:spPr bwMode="auto">
          <a:xfrm>
            <a:off x="1625600" y="6134100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995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9219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810000" cy="4953000"/>
          </a:xfrm>
        </p:spPr>
        <p:txBody>
          <a:bodyPr/>
          <a:lstStyle/>
          <a:p>
            <a:r>
              <a:rPr lang="en-US" altLang="en-US" sz="2400" smtClean="0"/>
              <a:t>Ensure scene safety.</a:t>
            </a:r>
          </a:p>
          <a:p>
            <a:r>
              <a:rPr lang="en-US" altLang="en-US" sz="2400" smtClean="0"/>
              <a:t>Keep your patient calm.</a:t>
            </a:r>
          </a:p>
          <a:p>
            <a:r>
              <a:rPr lang="en-US" altLang="en-US" sz="2400" smtClean="0"/>
              <a:t>Form a general impression.</a:t>
            </a:r>
          </a:p>
          <a:p>
            <a:r>
              <a:rPr lang="en-US" altLang="en-US" sz="2400" smtClean="0"/>
              <a:t>Assess airway and breathing.</a:t>
            </a:r>
          </a:p>
        </p:txBody>
      </p:sp>
      <p:sp>
        <p:nvSpPr>
          <p:cNvPr id="9220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447800"/>
            <a:ext cx="3810000" cy="4953000"/>
          </a:xfrm>
        </p:spPr>
        <p:txBody>
          <a:bodyPr/>
          <a:lstStyle/>
          <a:p>
            <a:r>
              <a:rPr lang="en-US" altLang="en-US" sz="2400" smtClean="0"/>
              <a:t>Cover both eyes.</a:t>
            </a:r>
          </a:p>
          <a:p>
            <a:r>
              <a:rPr lang="en-US" altLang="en-US" sz="2400" smtClean="0"/>
              <a:t>Consider pain management.</a:t>
            </a:r>
          </a:p>
          <a:p>
            <a:r>
              <a:rPr lang="en-US" altLang="en-US" sz="2400" smtClean="0"/>
              <a:t>Cardiac monitoring is recommended.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20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024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Obtain chief complaint and history.</a:t>
            </a:r>
          </a:p>
          <a:p>
            <a:pPr lvl="1"/>
            <a:r>
              <a:rPr lang="en-US" altLang="en-US" smtClean="0"/>
              <a:t>OPQRST</a:t>
            </a:r>
          </a:p>
          <a:p>
            <a:r>
              <a:rPr lang="en-US" altLang="en-US" smtClean="0"/>
              <a:t>Symptoms that may indicate a serious ocular condition include:</a:t>
            </a:r>
          </a:p>
          <a:p>
            <a:pPr lvl="1"/>
            <a:r>
              <a:rPr lang="en-US" altLang="en-US" smtClean="0"/>
              <a:t>Visual loss that does not improve with blinking</a:t>
            </a:r>
          </a:p>
          <a:p>
            <a:pPr lvl="1"/>
            <a:r>
              <a:rPr lang="en-US" altLang="en-US" smtClean="0"/>
              <a:t>Double vision</a:t>
            </a:r>
          </a:p>
          <a:p>
            <a:pPr lvl="1"/>
            <a:r>
              <a:rPr lang="en-US" altLang="en-US" smtClean="0"/>
              <a:t>Severe eye pain</a:t>
            </a:r>
          </a:p>
          <a:p>
            <a:pPr lvl="1"/>
            <a:r>
              <a:rPr lang="en-US" altLang="en-US" smtClean="0"/>
              <a:t>Foreign body sensation</a:t>
            </a:r>
          </a:p>
          <a:p>
            <a:r>
              <a:rPr lang="en-US" altLang="en-US" smtClean="0"/>
              <a:t>Perform a thorough examination. </a:t>
            </a:r>
          </a:p>
          <a:p>
            <a:pPr lvl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61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1267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Assess for:</a:t>
            </a:r>
          </a:p>
          <a:p>
            <a:pPr lvl="1"/>
            <a:r>
              <a:rPr lang="en-US" altLang="en-US" smtClean="0"/>
              <a:t>Pain/tenderness</a:t>
            </a:r>
          </a:p>
          <a:p>
            <a:pPr lvl="1"/>
            <a:r>
              <a:rPr lang="en-US" altLang="en-US" smtClean="0"/>
              <a:t>Swelling</a:t>
            </a:r>
          </a:p>
          <a:p>
            <a:pPr lvl="1"/>
            <a:r>
              <a:rPr lang="en-US" altLang="en-US" smtClean="0"/>
              <a:t>Abnormal movement or loss of movement</a:t>
            </a:r>
          </a:p>
          <a:p>
            <a:pPr lvl="1"/>
            <a:r>
              <a:rPr lang="en-US" altLang="en-US" smtClean="0"/>
              <a:t>Sensation changes</a:t>
            </a:r>
          </a:p>
          <a:p>
            <a:pPr lvl="1"/>
            <a:r>
              <a:rPr lang="en-US" altLang="en-US" smtClean="0"/>
              <a:t>Circulatory changes</a:t>
            </a:r>
          </a:p>
          <a:p>
            <a:pPr lvl="1"/>
            <a:r>
              <a:rPr lang="en-US" altLang="en-US" smtClean="0"/>
              <a:t>Deformity</a:t>
            </a:r>
          </a:p>
          <a:p>
            <a:pPr lvl="1"/>
            <a:r>
              <a:rPr lang="en-US" altLang="en-US" smtClean="0"/>
              <a:t>Visual changes</a:t>
            </a:r>
          </a:p>
          <a:p>
            <a:pPr lvl="1"/>
            <a:r>
              <a:rPr lang="en-US" altLang="en-US" smtClean="0"/>
              <a:t>Airway compromise</a:t>
            </a:r>
          </a:p>
          <a:p>
            <a:pPr lvl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81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2291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Assess structures:</a:t>
            </a:r>
          </a:p>
          <a:p>
            <a:pPr lvl="1"/>
            <a:r>
              <a:rPr lang="en-US" altLang="en-US" smtClean="0"/>
              <a:t>Orbital rim</a:t>
            </a:r>
          </a:p>
          <a:p>
            <a:pPr lvl="2"/>
            <a:r>
              <a:rPr lang="en-US" altLang="en-US" sz="2200" smtClean="0"/>
              <a:t>Ecchymosis, swelling, lacerations, tenderness</a:t>
            </a:r>
          </a:p>
          <a:p>
            <a:pPr lvl="1"/>
            <a:r>
              <a:rPr lang="en-US" altLang="en-US" smtClean="0"/>
              <a:t>Eyelids</a:t>
            </a:r>
          </a:p>
          <a:p>
            <a:pPr lvl="2"/>
            <a:r>
              <a:rPr lang="en-US" altLang="en-US" sz="2200" smtClean="0"/>
              <a:t>Ecchymosis, swelling, lacerations, abnormalities</a:t>
            </a:r>
          </a:p>
          <a:p>
            <a:pPr lvl="1"/>
            <a:r>
              <a:rPr lang="en-US" altLang="en-US" smtClean="0"/>
              <a:t>Corneas</a:t>
            </a:r>
          </a:p>
          <a:p>
            <a:pPr lvl="2"/>
            <a:r>
              <a:rPr lang="en-US" altLang="en-US" sz="2200" smtClean="0"/>
              <a:t>Foreign bodies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01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3315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Assess structures:</a:t>
            </a:r>
          </a:p>
          <a:p>
            <a:pPr lvl="1"/>
            <a:r>
              <a:rPr lang="en-US" altLang="en-US" smtClean="0"/>
              <a:t>Conjunctivae</a:t>
            </a:r>
          </a:p>
          <a:p>
            <a:pPr lvl="2"/>
            <a:r>
              <a:rPr lang="en-US" altLang="en-US" sz="2200" smtClean="0"/>
              <a:t>Redness, pus, inflammation, foreign bodies</a:t>
            </a:r>
          </a:p>
          <a:p>
            <a:pPr lvl="1"/>
            <a:r>
              <a:rPr lang="en-US" altLang="en-US" smtClean="0"/>
              <a:t>Globes</a:t>
            </a:r>
          </a:p>
          <a:p>
            <a:pPr lvl="2"/>
            <a:r>
              <a:rPr lang="en-US" altLang="en-US" sz="2200" smtClean="0"/>
              <a:t>Redness, pigmentation, lacerations</a:t>
            </a:r>
          </a:p>
          <a:p>
            <a:pPr lvl="1"/>
            <a:r>
              <a:rPr lang="en-US" altLang="en-US" smtClean="0"/>
              <a:t>Eye surface</a:t>
            </a:r>
          </a:p>
          <a:p>
            <a:pPr lvl="2"/>
            <a:r>
              <a:rPr lang="en-US" altLang="en-US" sz="2200" smtClean="0"/>
              <a:t>Growths, discoloration, differences</a:t>
            </a:r>
          </a:p>
          <a:p>
            <a:pPr lvl="1"/>
            <a:r>
              <a:rPr lang="en-US" altLang="en-US" smtClean="0"/>
              <a:t>Pupils</a:t>
            </a:r>
          </a:p>
          <a:p>
            <a:pPr lvl="2"/>
            <a:r>
              <a:rPr lang="en-US" altLang="en-US" sz="2200" smtClean="0"/>
              <a:t>Size, shape, equality, reaction to light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2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433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When assessing ocular function, test:</a:t>
            </a:r>
          </a:p>
          <a:p>
            <a:pPr lvl="1"/>
            <a:r>
              <a:rPr lang="en-US" altLang="en-US" smtClean="0"/>
              <a:t>Visual acuity</a:t>
            </a:r>
          </a:p>
          <a:p>
            <a:pPr lvl="2"/>
            <a:r>
              <a:rPr lang="en-US" altLang="en-US" sz="2200" smtClean="0"/>
              <a:t>Ability to see large and small letters</a:t>
            </a:r>
          </a:p>
          <a:p>
            <a:pPr lvl="1"/>
            <a:r>
              <a:rPr lang="en-US" altLang="en-US" smtClean="0"/>
              <a:t>Peripheral vision</a:t>
            </a:r>
          </a:p>
          <a:p>
            <a:pPr lvl="2"/>
            <a:r>
              <a:rPr lang="en-US" altLang="en-US" sz="2200" smtClean="0"/>
              <a:t>Ability to recognize an object entering the visual field</a:t>
            </a:r>
          </a:p>
          <a:p>
            <a:pPr lvl="1"/>
            <a:r>
              <a:rPr lang="en-US" altLang="en-US" smtClean="0"/>
              <a:t>Ocular motility</a:t>
            </a:r>
          </a:p>
          <a:p>
            <a:pPr lvl="2"/>
            <a:r>
              <a:rPr lang="en-US" altLang="en-US" sz="2200" smtClean="0"/>
              <a:t>Ability to move the eyes in all directions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4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536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Obtain a full set of baseline vital signs.</a:t>
            </a:r>
          </a:p>
          <a:p>
            <a:r>
              <a:rPr lang="en-US" altLang="en-US" smtClean="0"/>
              <a:t>The patient may experience adverse effects if he or she:</a:t>
            </a:r>
          </a:p>
          <a:p>
            <a:pPr lvl="1"/>
            <a:r>
              <a:rPr lang="en-US" altLang="en-US" smtClean="0"/>
              <a:t>Uses more than one eye medication</a:t>
            </a:r>
          </a:p>
          <a:p>
            <a:pPr lvl="1"/>
            <a:r>
              <a:rPr lang="en-US" altLang="en-US" smtClean="0"/>
              <a:t>Uses too much medication</a:t>
            </a:r>
          </a:p>
          <a:p>
            <a:r>
              <a:rPr lang="en-US" altLang="en-US" smtClean="0"/>
              <a:t>Ask how the patient administered any eye  medication he or she has used.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63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Eye drops and lubricants can be applied by:</a:t>
            </a:r>
          </a:p>
          <a:p>
            <a:pPr lvl="1"/>
            <a:r>
              <a:rPr lang="en-US" altLang="en-US" smtClean="0"/>
              <a:t>Gently squeezing the lower eyelid</a:t>
            </a:r>
          </a:p>
          <a:p>
            <a:pPr lvl="1"/>
            <a:r>
              <a:rPr lang="en-US" altLang="en-US" smtClean="0"/>
              <a:t>Applying the medication</a:t>
            </a:r>
          </a:p>
          <a:p>
            <a:pPr lvl="1"/>
            <a:r>
              <a:rPr lang="en-US" altLang="en-US" smtClean="0"/>
              <a:t>Having the patient close the eyes and roll them</a:t>
            </a:r>
          </a:p>
          <a:p>
            <a:pPr lvl="1"/>
            <a:r>
              <a:rPr lang="en-US" altLang="en-US" smtClean="0"/>
              <a:t>Applying gentle pressure to the corner of the eyes to prevent drainage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83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Irrigation may be necessary.</a:t>
            </a:r>
          </a:p>
          <a:p>
            <a:pPr lvl="1"/>
            <a:r>
              <a:rPr lang="en-US" altLang="en-US" smtClean="0"/>
              <a:t>Use sterile water or isotonic saline solution.</a:t>
            </a:r>
          </a:p>
          <a:p>
            <a:pPr lvl="1"/>
            <a:r>
              <a:rPr lang="en-US" altLang="en-US" smtClean="0"/>
              <a:t>Flush from the inside corner to the outside.</a:t>
            </a:r>
          </a:p>
          <a:p>
            <a:r>
              <a:rPr lang="en-US" altLang="en-US" smtClean="0"/>
              <a:t>Eye injuries should be seen in the emergency department.</a:t>
            </a:r>
          </a:p>
          <a:p>
            <a:pPr lvl="1"/>
            <a:r>
              <a:rPr lang="en-US" altLang="en-US" smtClean="0"/>
              <a:t>May be irreversible</a:t>
            </a:r>
          </a:p>
          <a:p>
            <a:pPr lvl="1"/>
            <a:r>
              <a:rPr lang="en-US" altLang="en-US" smtClean="0"/>
              <a:t>Communicate with the patient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Contact Lenses</a:t>
            </a:r>
            <a:endParaRPr lang="en-US" dirty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only indication for removing contact lenses in the prehospital setting is a chemical burn of the eye.</a:t>
            </a:r>
          </a:p>
          <a:p>
            <a:r>
              <a:rPr lang="en-US" altLang="en-US" smtClean="0"/>
              <a:t>There are three types of contact lenses:</a:t>
            </a:r>
          </a:p>
          <a:p>
            <a:pPr lvl="1"/>
            <a:r>
              <a:rPr lang="en-US" altLang="en-US" smtClean="0"/>
              <a:t>Hard</a:t>
            </a:r>
          </a:p>
          <a:p>
            <a:pPr lvl="1"/>
            <a:r>
              <a:rPr lang="en-US" altLang="en-US" smtClean="0"/>
              <a:t>Rigid gas-permeable</a:t>
            </a:r>
          </a:p>
          <a:p>
            <a:pPr lvl="1"/>
            <a:r>
              <a:rPr lang="en-US" altLang="en-US" smtClean="0"/>
              <a:t>Soft (hydrophilic)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Contact Lenses</a:t>
            </a:r>
            <a:endParaRPr lang="en-US" dirty="0"/>
          </a:p>
        </p:txBody>
      </p:sp>
      <p:sp>
        <p:nvSpPr>
          <p:cNvPr id="19459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mtClean="0"/>
              <a:t>To remove hard lenses:</a:t>
            </a:r>
          </a:p>
          <a:p>
            <a:pPr lvl="1"/>
            <a:r>
              <a:rPr lang="en-US" altLang="en-US" smtClean="0"/>
              <a:t>Use small suction cup</a:t>
            </a:r>
          </a:p>
          <a:p>
            <a:pPr lvl="1"/>
            <a:r>
              <a:rPr lang="en-US" altLang="en-US" smtClean="0"/>
              <a:t>Moisten end with saline</a:t>
            </a:r>
          </a:p>
        </p:txBody>
      </p:sp>
      <p:pic>
        <p:nvPicPr>
          <p:cNvPr id="19460" name="Picture 4" descr="\\10.1.1.17\productions\ART\ART PROCESS\PPT Projects\Caroline_ITK_164887\Final PPT files\Batch 15\Batch 15\9781284137200_CH19_FIGF03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0900" y="1627188"/>
            <a:ext cx="4267200" cy="284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4"/>
          <p:cNvSpPr>
            <a:spLocks noChangeArrowheads="1"/>
          </p:cNvSpPr>
          <p:nvPr/>
        </p:nvSpPr>
        <p:spPr bwMode="auto">
          <a:xfrm>
            <a:off x="4660900" y="4486275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Contact Lenses</a:t>
            </a:r>
            <a:endParaRPr lang="en-US" dirty="0"/>
          </a:p>
        </p:txBody>
      </p:sp>
      <p:sp>
        <p:nvSpPr>
          <p:cNvPr id="20483" name="Content Placeholder 4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153400" cy="2057400"/>
          </a:xfrm>
        </p:spPr>
        <p:txBody>
          <a:bodyPr/>
          <a:lstStyle/>
          <a:p>
            <a:r>
              <a:rPr lang="en-US" altLang="en-US" smtClean="0"/>
              <a:t>To remove soft lenses:</a:t>
            </a:r>
          </a:p>
          <a:p>
            <a:pPr lvl="1"/>
            <a:r>
              <a:rPr lang="en-US" altLang="en-US" smtClean="0"/>
              <a:t>Place one to two drops of saline in the eye.</a:t>
            </a:r>
          </a:p>
          <a:p>
            <a:pPr lvl="1"/>
            <a:r>
              <a:rPr lang="en-US" altLang="en-US" smtClean="0"/>
              <a:t>Gently pinch the lens between your fingers and lift it off the eye.</a:t>
            </a:r>
          </a:p>
        </p:txBody>
      </p:sp>
      <p:pic>
        <p:nvPicPr>
          <p:cNvPr id="20484" name="Picture 4" descr="\\10.1.1.17\productions\ART\ART PROCESS\PPT Projects\Caroline_ITK_164887\Final PPT files\Batch 15\Batch 15\9781284137200_CH19_FIGF03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41700"/>
            <a:ext cx="3467100" cy="306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 descr="\\10.1.1.17\productions\ART\ART PROCESS\PPT Projects\Caroline_ITK_164887\Final PPT files\Batch 15\Batch 15\9781284137200_CH19_FIGF03C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1188" y="3825875"/>
            <a:ext cx="4114800" cy="268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Rectangle 5"/>
          <p:cNvSpPr>
            <a:spLocks noChangeArrowheads="1"/>
          </p:cNvSpPr>
          <p:nvPr/>
        </p:nvSpPr>
        <p:spPr bwMode="auto">
          <a:xfrm rot="-5400000">
            <a:off x="38100" y="5715001"/>
            <a:ext cx="14446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  <p:sp>
        <p:nvSpPr>
          <p:cNvPr id="20487" name="Rectangle 6"/>
          <p:cNvSpPr>
            <a:spLocks noChangeArrowheads="1"/>
          </p:cNvSpPr>
          <p:nvPr/>
        </p:nvSpPr>
        <p:spPr bwMode="auto">
          <a:xfrm rot="-5400000">
            <a:off x="7896225" y="5683251"/>
            <a:ext cx="1443037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Eye Prosthesis</a:t>
            </a:r>
            <a:endParaRPr lang="en-US" dirty="0"/>
          </a:p>
        </p:txBody>
      </p:sp>
      <p:sp>
        <p:nvSpPr>
          <p:cNvPr id="2150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Suspect if the eye:</a:t>
            </a:r>
          </a:p>
          <a:p>
            <a:pPr lvl="1"/>
            <a:r>
              <a:rPr lang="en-US" altLang="en-US" smtClean="0"/>
              <a:t>Does not respond to light</a:t>
            </a:r>
          </a:p>
          <a:p>
            <a:pPr lvl="1"/>
            <a:r>
              <a:rPr lang="en-US" altLang="en-US" smtClean="0"/>
              <a:t>Does not move in concert with the opposite eye</a:t>
            </a:r>
          </a:p>
          <a:p>
            <a:pPr lvl="1"/>
            <a:r>
              <a:rPr lang="en-US" altLang="en-US" smtClean="0"/>
              <a:t>Does not appear quite the same as the opposite eye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Use of Ophthalmoscope</a:t>
            </a:r>
            <a:endParaRPr lang="en-US" dirty="0"/>
          </a:p>
        </p:txBody>
      </p:sp>
      <p:sp>
        <p:nvSpPr>
          <p:cNvPr id="22531" name="Content Placeholder 4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962400" cy="4800600"/>
          </a:xfrm>
        </p:spPr>
        <p:txBody>
          <a:bodyPr/>
          <a:lstStyle/>
          <a:p>
            <a:r>
              <a:rPr lang="en-US" altLang="en-US" smtClean="0"/>
              <a:t>Rarely used by paramedics</a:t>
            </a:r>
          </a:p>
          <a:p>
            <a:r>
              <a:rPr lang="en-US" altLang="en-US" smtClean="0"/>
              <a:t>Effective evaluation requires:</a:t>
            </a:r>
          </a:p>
          <a:p>
            <a:pPr lvl="1"/>
            <a:r>
              <a:rPr lang="en-US" altLang="en-US" smtClean="0"/>
              <a:t>Dilation of eye</a:t>
            </a:r>
          </a:p>
          <a:p>
            <a:pPr lvl="1"/>
            <a:r>
              <a:rPr lang="en-US" altLang="en-US" smtClean="0"/>
              <a:t>Diagnostic expertise</a:t>
            </a:r>
          </a:p>
        </p:txBody>
      </p:sp>
      <p:pic>
        <p:nvPicPr>
          <p:cNvPr id="22532" name="Picture 4" descr="\\10.1.1.17\productions\ART\ART PROCESS\PPT Projects\Caroline_ITK_164887\Final PPT files\Batch 15\Batch 15\9781284137200_CH19_FIGF0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7600" y="1219200"/>
            <a:ext cx="2184400" cy="504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Rectangle 1"/>
          <p:cNvSpPr>
            <a:spLocks noChangeArrowheads="1"/>
          </p:cNvSpPr>
          <p:nvPr/>
        </p:nvSpPr>
        <p:spPr bwMode="auto">
          <a:xfrm rot="-5400000">
            <a:off x="5218907" y="5299868"/>
            <a:ext cx="17653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Narumon Numpha/Shutterstock.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887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Conjunctivitis</a:t>
            </a:r>
          </a:p>
        </p:txBody>
      </p:sp>
      <p:sp>
        <p:nvSpPr>
          <p:cNvPr id="2355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Conjunctiva becomes inflamed and red.</a:t>
            </a:r>
          </a:p>
          <a:p>
            <a:pPr lvl="1"/>
            <a:r>
              <a:rPr lang="en-US" altLang="en-US" smtClean="0"/>
              <a:t>Often starts in one eye and spreads to the other eye</a:t>
            </a:r>
          </a:p>
          <a:p>
            <a:pPr lvl="1"/>
            <a:r>
              <a:rPr lang="en-US" altLang="en-US" smtClean="0"/>
              <a:t>Often caused by bacteria, viruses, allergies, or foreign bodies</a:t>
            </a:r>
          </a:p>
        </p:txBody>
      </p:sp>
      <p:sp>
        <p:nvSpPr>
          <p:cNvPr id="9508870" name="Rectangle 6"/>
          <p:cNvSpPr>
            <a:spLocks noChangeArrowheads="1"/>
          </p:cNvSpPr>
          <p:nvPr/>
        </p:nvSpPr>
        <p:spPr bwMode="auto">
          <a:xfrm>
            <a:off x="4724400" y="4629150"/>
            <a:ext cx="4114800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Courtesy of John T. </a:t>
            </a:r>
            <a:r>
              <a:rPr lang="en-US" sz="900" dirty="0" err="1">
                <a:solidFill>
                  <a:schemeClr val="bg1"/>
                </a:solidFill>
              </a:rPr>
              <a:t>Halgren</a:t>
            </a:r>
            <a:r>
              <a:rPr lang="en-US" sz="900" dirty="0">
                <a:solidFill>
                  <a:schemeClr val="bg1"/>
                </a:solidFill>
              </a:rPr>
              <a:t>, M.D., University of Nebraska Medical Center.</a:t>
            </a:r>
            <a:endParaRPr lang="en-US" sz="900" dirty="0">
              <a:solidFill>
                <a:schemeClr val="bg1"/>
              </a:solidFill>
              <a:latin typeface="Arial" charset="0"/>
              <a:ea typeface="ヒラギノ角ゴ Pro W3" charset="0"/>
              <a:cs typeface="Arial" charset="0"/>
            </a:endParaRPr>
          </a:p>
        </p:txBody>
      </p:sp>
      <p:pic>
        <p:nvPicPr>
          <p:cNvPr id="23557" name="Picture 5" descr="\\10.1.1.17\productions\ART\ART PROCESS\PPT Projects\Caroline_ITK_164887\Final PPT files\Batch 15\Batch 15\9781284137200_CH19_FIGF0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75" y="1828800"/>
            <a:ext cx="4264025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09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Conjunctivitis</a:t>
            </a:r>
          </a:p>
        </p:txBody>
      </p:sp>
      <p:sp>
        <p:nvSpPr>
          <p:cNvPr id="2457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Perform a general assessment of vision.</a:t>
            </a:r>
          </a:p>
          <a:p>
            <a:pPr lvl="1"/>
            <a:r>
              <a:rPr lang="en-US" altLang="en-US" smtClean="0"/>
              <a:t>Viral conjunctivitis resolves on its own.</a:t>
            </a:r>
          </a:p>
          <a:p>
            <a:pPr lvl="1"/>
            <a:r>
              <a:rPr lang="en-US" altLang="en-US" smtClean="0"/>
              <a:t>Bacterial conjunctivitis requires topical antibiotic.</a:t>
            </a:r>
          </a:p>
          <a:p>
            <a:pPr lvl="1"/>
            <a:r>
              <a:rPr lang="en-US" altLang="en-US" smtClean="0"/>
              <a:t>Severe allergic conjunctivitis may need NSAIDs, antihistamines, and topical steroid eye drops.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7304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mtClean="0"/>
              <a:t>Inflammation of the Eyelid </a:t>
            </a:r>
            <a:r>
              <a:rPr lang="en-US" altLang="en-US" sz="3600" smtClean="0"/>
              <a:t>(Chalazion and Hordeolum)</a:t>
            </a:r>
            <a:endParaRPr lang="en-US" altLang="en-US" smtClean="0"/>
          </a:p>
        </p:txBody>
      </p:sp>
      <p:sp>
        <p:nvSpPr>
          <p:cNvPr id="25603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4038600" cy="4953000"/>
          </a:xfrm>
        </p:spPr>
        <p:txBody>
          <a:bodyPr/>
          <a:lstStyle/>
          <a:p>
            <a:r>
              <a:rPr lang="en-US" altLang="en-US" smtClean="0"/>
              <a:t>Chalazion: swollen bump or pustule on the external eyelid</a:t>
            </a:r>
          </a:p>
          <a:p>
            <a:pPr lvl="1"/>
            <a:r>
              <a:rPr lang="en-US" altLang="en-US" smtClean="0"/>
              <a:t>Formed by blockage of oil gland</a:t>
            </a:r>
          </a:p>
          <a:p>
            <a:r>
              <a:rPr lang="en-US" altLang="en-US" smtClean="0"/>
              <a:t>Hordeolum (stye): red, tender lump in eyelid or lid margin</a:t>
            </a:r>
          </a:p>
          <a:p>
            <a:pPr lvl="1"/>
            <a:r>
              <a:rPr lang="en-US" altLang="en-US" smtClean="0"/>
              <a:t>Infection of oil gland</a:t>
            </a:r>
          </a:p>
        </p:txBody>
      </p:sp>
      <p:sp>
        <p:nvSpPr>
          <p:cNvPr id="9527303" name="Rectangle 7"/>
          <p:cNvSpPr>
            <a:spLocks noChangeArrowheads="1"/>
          </p:cNvSpPr>
          <p:nvPr/>
        </p:nvSpPr>
        <p:spPr bwMode="auto">
          <a:xfrm rot="16200000">
            <a:off x="7700169" y="2740819"/>
            <a:ext cx="2133600" cy="13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Dr. P. </a:t>
            </a:r>
            <a:r>
              <a:rPr lang="en-US" sz="900" dirty="0" err="1">
                <a:solidFill>
                  <a:schemeClr val="bg1"/>
                </a:solidFill>
              </a:rPr>
              <a:t>Marazzi</a:t>
            </a:r>
            <a:r>
              <a:rPr lang="en-US" sz="900" dirty="0">
                <a:solidFill>
                  <a:schemeClr val="bg1"/>
                </a:solidFill>
              </a:rPr>
              <a:t>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5605" name="Picture 6" descr="\\10.1.1.17\productions\ART\ART PROCESS\PPT Projects\Caroline_ITK_164887\Final PPT files\Batch 15\Batch 15\9781284137200_CH19_FIGF0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514475"/>
            <a:ext cx="3556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7" descr="\\10.1.1.17\productions\ART\ART PROCESS\PPT Projects\Caroline_ITK_164887\Final PPT files\Batch 15\Batch 15\9781284137200_CH19_FIGF07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100" y="3975100"/>
            <a:ext cx="355600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7"/>
          <p:cNvSpPr>
            <a:spLocks noChangeArrowheads="1"/>
          </p:cNvSpPr>
          <p:nvPr/>
        </p:nvSpPr>
        <p:spPr bwMode="auto">
          <a:xfrm rot="16200000">
            <a:off x="7562850" y="5113338"/>
            <a:ext cx="2414588" cy="13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Francoise </a:t>
            </a:r>
            <a:r>
              <a:rPr lang="en-US" sz="900" dirty="0" err="1">
                <a:solidFill>
                  <a:schemeClr val="bg1"/>
                </a:solidFill>
              </a:rPr>
              <a:t>Sauze</a:t>
            </a:r>
            <a:r>
              <a:rPr lang="en-US" sz="900" dirty="0">
                <a:solidFill>
                  <a:schemeClr val="bg1"/>
                </a:solidFill>
              </a:rPr>
              <a:t>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93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Inflammation of the Eyelid </a:t>
            </a:r>
            <a:r>
              <a:rPr lang="en-US" sz="3600" dirty="0">
                <a:cs typeface="ヒラギノ角ゴ Pro W3" charset="0"/>
              </a:rPr>
              <a:t>(Chalazion and Hordeolum)</a:t>
            </a:r>
          </a:p>
        </p:txBody>
      </p:sp>
      <p:sp>
        <p:nvSpPr>
          <p:cNvPr id="266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Thorough assessment of vital signs and history is warranted.</a:t>
            </a:r>
          </a:p>
          <a:p>
            <a:pPr lvl="1"/>
            <a:r>
              <a:rPr lang="en-US" altLang="en-US" smtClean="0"/>
              <a:t>Transport to the emergency department.</a:t>
            </a:r>
          </a:p>
          <a:p>
            <a:pPr lvl="1"/>
            <a:r>
              <a:rPr lang="en-US" altLang="en-US" smtClean="0"/>
              <a:t>Patient may be asked to treat inflammation with a warm washcloth. </a:t>
            </a:r>
          </a:p>
          <a:p>
            <a:pPr lvl="1"/>
            <a:r>
              <a:rPr lang="en-US" altLang="en-US" smtClean="0"/>
              <a:t>Topical or oral antibiotics may be prescribed.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13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Glaucoma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Group of conditions that lead to increased intraocular pressure</a:t>
            </a:r>
          </a:p>
          <a:p>
            <a:pPr lvl="1"/>
            <a:r>
              <a:rPr lang="en-US" altLang="en-US" dirty="0" smtClean="0"/>
              <a:t>Open-angle glaucoma</a:t>
            </a:r>
          </a:p>
          <a:p>
            <a:pPr lvl="1"/>
            <a:r>
              <a:rPr lang="en-US" altLang="en-US" dirty="0" smtClean="0"/>
              <a:t>Normal-tension glaucoma</a:t>
            </a:r>
          </a:p>
          <a:p>
            <a:pPr lvl="1"/>
            <a:r>
              <a:rPr lang="en-US" altLang="en-US" dirty="0" smtClean="0"/>
              <a:t>Narrow-angle glaucoma</a:t>
            </a:r>
          </a:p>
          <a:p>
            <a:pPr lvl="1"/>
            <a:r>
              <a:rPr lang="en-US" altLang="en-US" dirty="0" smtClean="0"/>
              <a:t>Secondary glaucoma</a:t>
            </a:r>
          </a:p>
          <a:p>
            <a:r>
              <a:rPr lang="en-US" altLang="en-US" dirty="0" smtClean="0"/>
              <a:t>Usually treated with eye drops to reduce ocular pressures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34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Glaucoma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Rule out trauma or physical injury.</a:t>
            </a:r>
          </a:p>
          <a:p>
            <a:pPr lvl="1"/>
            <a:r>
              <a:rPr lang="en-US" altLang="en-US" smtClean="0"/>
              <a:t>Perform a general eye assessment.</a:t>
            </a:r>
          </a:p>
          <a:p>
            <a:pPr lvl="1"/>
            <a:r>
              <a:rPr lang="en-US" altLang="en-US" smtClean="0"/>
              <a:t>Document pertinent negatives and abnormal findings.</a:t>
            </a:r>
          </a:p>
          <a:p>
            <a:pPr lvl="1"/>
            <a:r>
              <a:rPr lang="en-US" altLang="en-US" smtClean="0"/>
              <a:t>An ophthalmologist will perform a more comprehensive assessment.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Central Retinal Artery Occlusion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Blood supply to the retina becomes blocked.</a:t>
            </a:r>
          </a:p>
          <a:p>
            <a:r>
              <a:rPr lang="en-US" altLang="en-US" smtClean="0"/>
              <a:t>A central retinal artery occlusion may cause temporary or permanent partial blindness.</a:t>
            </a:r>
          </a:p>
          <a:p>
            <a:r>
              <a:rPr lang="en-US" altLang="en-US" smtClean="0"/>
              <a:t>A situation involving rapid loss of vision is an emergency and requires immediate transport.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16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Iritis</a:t>
            </a:r>
          </a:p>
        </p:txBody>
      </p:sp>
      <p:sp>
        <p:nvSpPr>
          <p:cNvPr id="3072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4495800" cy="4953000"/>
          </a:xfrm>
        </p:spPr>
        <p:txBody>
          <a:bodyPr/>
          <a:lstStyle/>
          <a:p>
            <a:r>
              <a:rPr lang="en-US" altLang="en-US" dirty="0" smtClean="0"/>
              <a:t>Inflammation of the iris</a:t>
            </a:r>
          </a:p>
          <a:p>
            <a:pPr lvl="1"/>
            <a:r>
              <a:rPr lang="en-US" altLang="en-US" dirty="0" smtClean="0"/>
              <a:t>Acute causes: </a:t>
            </a:r>
          </a:p>
          <a:p>
            <a:pPr lvl="2"/>
            <a:r>
              <a:rPr lang="en-US" altLang="en-US" sz="2200" dirty="0" smtClean="0"/>
              <a:t>Trauma</a:t>
            </a:r>
          </a:p>
          <a:p>
            <a:pPr lvl="2"/>
            <a:r>
              <a:rPr lang="en-US" altLang="en-US" sz="2200" dirty="0" smtClean="0"/>
              <a:t>Irritants</a:t>
            </a:r>
          </a:p>
          <a:p>
            <a:pPr lvl="1"/>
            <a:r>
              <a:rPr lang="en-US" altLang="en-US" dirty="0" smtClean="0"/>
              <a:t>Chronic causes:</a:t>
            </a:r>
          </a:p>
          <a:p>
            <a:pPr lvl="2"/>
            <a:r>
              <a:rPr lang="en-US" altLang="en-US" sz="2200" dirty="0" smtClean="0"/>
              <a:t>Autoimmune diseases</a:t>
            </a:r>
          </a:p>
          <a:p>
            <a:pPr lvl="2"/>
            <a:r>
              <a:rPr lang="en-US" altLang="en-US" sz="2200" dirty="0" smtClean="0"/>
              <a:t>Arthritis</a:t>
            </a:r>
          </a:p>
          <a:p>
            <a:pPr lvl="2"/>
            <a:r>
              <a:rPr lang="en-US" altLang="en-US" sz="2200" dirty="0" smtClean="0"/>
              <a:t>Irritable bowel disease</a:t>
            </a:r>
          </a:p>
          <a:p>
            <a:pPr lvl="2"/>
            <a:r>
              <a:rPr lang="en-US" altLang="en-US" sz="2200" dirty="0" smtClean="0"/>
              <a:t>Crohn’s </a:t>
            </a:r>
            <a:r>
              <a:rPr lang="en-US" altLang="en-US" sz="2200" dirty="0" smtClean="0"/>
              <a:t>disease</a:t>
            </a:r>
          </a:p>
        </p:txBody>
      </p:sp>
      <p:pic>
        <p:nvPicPr>
          <p:cNvPr id="9541637" name="Picture 5" descr="09221_CH19_FIG14"/>
          <p:cNvPicPr preferRelativeResize="0"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 bwMode="auto">
          <a:xfrm>
            <a:off x="5170488" y="1866900"/>
            <a:ext cx="3886200" cy="25146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9541638" name="Rectangle 6"/>
          <p:cNvSpPr>
            <a:spLocks noChangeArrowheads="1"/>
          </p:cNvSpPr>
          <p:nvPr/>
        </p:nvSpPr>
        <p:spPr bwMode="auto">
          <a:xfrm>
            <a:off x="5181600" y="4403725"/>
            <a:ext cx="2819400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</a:t>
            </a:r>
            <a:r>
              <a:rPr lang="en-US" sz="900" dirty="0" err="1">
                <a:solidFill>
                  <a:schemeClr val="bg1"/>
                </a:solidFill>
              </a:rPr>
              <a:t>Biophoto</a:t>
            </a:r>
            <a:r>
              <a:rPr lang="en-US" sz="900" dirty="0">
                <a:solidFill>
                  <a:schemeClr val="bg1"/>
                </a:solidFill>
              </a:rPr>
              <a:t> Associates/Photo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36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Iritis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Iritis is a red area surrounding the iris, cloudy vision, or an unusually shaped pupil.</a:t>
            </a:r>
          </a:p>
          <a:p>
            <a:pPr lvl="1"/>
            <a:r>
              <a:rPr lang="en-US" altLang="en-US" smtClean="0"/>
              <a:t>Focus on history.</a:t>
            </a:r>
          </a:p>
          <a:p>
            <a:pPr lvl="2"/>
            <a:r>
              <a:rPr lang="en-US" altLang="en-US" sz="2200" smtClean="0"/>
              <a:t>Acute iritis may respond to topical corticosteroids.</a:t>
            </a:r>
          </a:p>
          <a:p>
            <a:pPr lvl="2"/>
            <a:r>
              <a:rPr lang="en-US" altLang="en-US" sz="2200" smtClean="0"/>
              <a:t>Chronic iritis should be referred to a specialist.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57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Papilledema</a:t>
            </a:r>
          </a:p>
        </p:txBody>
      </p:sp>
      <p:sp>
        <p:nvSpPr>
          <p:cNvPr id="3277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Swelling or inflammation of the optic nerve</a:t>
            </a:r>
          </a:p>
          <a:p>
            <a:r>
              <a:rPr lang="en-US" altLang="en-US" smtClean="0"/>
              <a:t>Symptoms:</a:t>
            </a:r>
          </a:p>
          <a:p>
            <a:pPr lvl="1"/>
            <a:r>
              <a:rPr lang="en-US" altLang="en-US" smtClean="0"/>
              <a:t>Headaches</a:t>
            </a:r>
          </a:p>
          <a:p>
            <a:pPr lvl="1"/>
            <a:r>
              <a:rPr lang="en-US" altLang="en-US" smtClean="0"/>
              <a:t>Nausea </a:t>
            </a:r>
          </a:p>
          <a:p>
            <a:pPr lvl="1"/>
            <a:r>
              <a:rPr lang="en-US" altLang="en-US" smtClean="0"/>
              <a:t>Temporary vision loss or narrowing vision fields</a:t>
            </a:r>
          </a:p>
          <a:p>
            <a:pPr lvl="1"/>
            <a:r>
              <a:rPr lang="en-US" altLang="en-US" smtClean="0"/>
              <a:t>G</a:t>
            </a:r>
            <a:r>
              <a:rPr lang="en-US" altLang="ja-JP" smtClean="0"/>
              <a:t>raying in the field of vision</a:t>
            </a:r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778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Papilledema</a:t>
            </a:r>
          </a:p>
        </p:txBody>
      </p:sp>
      <p:sp>
        <p:nvSpPr>
          <p:cNvPr id="33795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810000" cy="4953000"/>
          </a:xfrm>
        </p:spPr>
        <p:txBody>
          <a:bodyPr/>
          <a:lstStyle/>
          <a:p>
            <a:r>
              <a:rPr lang="en-US" altLang="en-US" smtClean="0"/>
              <a:t>Can be caused by:</a:t>
            </a:r>
          </a:p>
          <a:p>
            <a:pPr lvl="1"/>
            <a:r>
              <a:rPr lang="en-US" altLang="en-US" smtClean="0"/>
              <a:t>Abscess</a:t>
            </a:r>
          </a:p>
          <a:p>
            <a:pPr lvl="1"/>
            <a:r>
              <a:rPr lang="en-US" altLang="en-US" smtClean="0"/>
              <a:t>Tumor</a:t>
            </a:r>
          </a:p>
          <a:p>
            <a:pPr lvl="1"/>
            <a:r>
              <a:rPr lang="en-US" altLang="en-US" smtClean="0"/>
              <a:t>Inner ear infection</a:t>
            </a:r>
          </a:p>
          <a:p>
            <a:pPr lvl="1"/>
            <a:r>
              <a:rPr lang="en-US" altLang="en-US" smtClean="0"/>
              <a:t>Lung infection</a:t>
            </a:r>
          </a:p>
          <a:p>
            <a:pPr lvl="1"/>
            <a:r>
              <a:rPr lang="en-US" altLang="en-US" smtClean="0"/>
              <a:t>Dental infection</a:t>
            </a:r>
          </a:p>
        </p:txBody>
      </p:sp>
      <p:sp>
        <p:nvSpPr>
          <p:cNvPr id="33796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4495800" y="1447800"/>
            <a:ext cx="3962400" cy="4953000"/>
          </a:xfrm>
        </p:spPr>
        <p:txBody>
          <a:bodyPr/>
          <a:lstStyle/>
          <a:p>
            <a:r>
              <a:rPr lang="en-US" altLang="en-US" smtClean="0"/>
              <a:t>Other causes:</a:t>
            </a:r>
          </a:p>
          <a:p>
            <a:pPr lvl="1"/>
            <a:r>
              <a:rPr lang="en-US" altLang="en-US" smtClean="0"/>
              <a:t>Meningitis</a:t>
            </a:r>
          </a:p>
          <a:p>
            <a:pPr lvl="1"/>
            <a:r>
              <a:rPr lang="en-US" altLang="en-US" smtClean="0"/>
              <a:t>Fever</a:t>
            </a:r>
          </a:p>
          <a:p>
            <a:pPr lvl="1"/>
            <a:r>
              <a:rPr lang="en-US" altLang="en-US" smtClean="0"/>
              <a:t>Hypertensive crisis</a:t>
            </a:r>
          </a:p>
          <a:p>
            <a:pPr lvl="1"/>
            <a:r>
              <a:rPr lang="en-US" altLang="en-US" smtClean="0"/>
              <a:t>Chronic high blood pressure</a:t>
            </a:r>
          </a:p>
          <a:p>
            <a:pPr lvl="1"/>
            <a:r>
              <a:rPr lang="en-US" altLang="en-US" smtClean="0"/>
              <a:t>Guillain-Barré syndrome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98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Papilledema</a:t>
            </a:r>
          </a:p>
        </p:txBody>
      </p:sp>
      <p:sp>
        <p:nvSpPr>
          <p:cNvPr id="3481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Prehospital management consists of:</a:t>
            </a:r>
          </a:p>
          <a:p>
            <a:pPr lvl="2"/>
            <a:r>
              <a:rPr lang="en-US" altLang="en-US" sz="2200" smtClean="0"/>
              <a:t>Treating symptoms.</a:t>
            </a:r>
          </a:p>
          <a:p>
            <a:pPr lvl="2"/>
            <a:r>
              <a:rPr lang="en-US" altLang="en-US" sz="2200" smtClean="0"/>
              <a:t>Transporting.</a:t>
            </a:r>
          </a:p>
          <a:p>
            <a:pPr lvl="2"/>
            <a:r>
              <a:rPr lang="en-US" altLang="en-US" sz="2200" smtClean="0"/>
              <a:t>Assessing ABCs and life threats.</a:t>
            </a:r>
          </a:p>
          <a:p>
            <a:pPr lvl="2"/>
            <a:r>
              <a:rPr lang="en-US" altLang="en-US" sz="2200" smtClean="0"/>
              <a:t>Administering analgesics or a mild sedative, if needed.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392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Cellulitis of the Orbit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962400" cy="4953000"/>
          </a:xfrm>
        </p:spPr>
        <p:txBody>
          <a:bodyPr/>
          <a:lstStyle/>
          <a:p>
            <a:r>
              <a:rPr lang="en-US" altLang="en-US" smtClean="0"/>
              <a:t>Periorbital cellulitis</a:t>
            </a:r>
          </a:p>
          <a:p>
            <a:pPr lvl="1"/>
            <a:r>
              <a:rPr lang="en-US" altLang="en-US" smtClean="0"/>
              <a:t>Presents as painful, red, swollen eyelid </a:t>
            </a:r>
          </a:p>
          <a:p>
            <a:pPr lvl="1"/>
            <a:r>
              <a:rPr lang="en-US" altLang="en-US" smtClean="0"/>
              <a:t>Risk factors:</a:t>
            </a:r>
          </a:p>
          <a:p>
            <a:pPr lvl="2"/>
            <a:r>
              <a:rPr lang="en-US" altLang="en-US" sz="2200" smtClean="0"/>
              <a:t>Insect bites</a:t>
            </a:r>
          </a:p>
          <a:p>
            <a:pPr lvl="2"/>
            <a:r>
              <a:rPr lang="en-US" altLang="en-US" sz="2200" smtClean="0"/>
              <a:t>Upper respiratory disorders</a:t>
            </a:r>
          </a:p>
          <a:p>
            <a:pPr lvl="2"/>
            <a:r>
              <a:rPr lang="en-US" altLang="en-US" sz="2200" smtClean="0"/>
              <a:t>Trauma</a:t>
            </a:r>
          </a:p>
        </p:txBody>
      </p:sp>
      <p:sp>
        <p:nvSpPr>
          <p:cNvPr id="35844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447800"/>
            <a:ext cx="3810000" cy="4953000"/>
          </a:xfrm>
        </p:spPr>
        <p:txBody>
          <a:bodyPr/>
          <a:lstStyle/>
          <a:p>
            <a:r>
              <a:rPr lang="en-US" altLang="en-US" smtClean="0"/>
              <a:t>Orbital cellulitis</a:t>
            </a:r>
          </a:p>
          <a:p>
            <a:pPr lvl="1"/>
            <a:r>
              <a:rPr lang="en-US" altLang="en-US" smtClean="0"/>
              <a:t>Medical emergency</a:t>
            </a:r>
          </a:p>
          <a:p>
            <a:pPr lvl="1"/>
            <a:r>
              <a:rPr lang="en-US" altLang="en-US" smtClean="0"/>
              <a:t>Risk factors:</a:t>
            </a:r>
          </a:p>
          <a:p>
            <a:pPr lvl="2"/>
            <a:r>
              <a:rPr lang="en-US" altLang="en-US" sz="2200" smtClean="0"/>
              <a:t>Sinusitis</a:t>
            </a:r>
          </a:p>
          <a:p>
            <a:pPr lvl="2"/>
            <a:r>
              <a:rPr lang="en-US" altLang="en-US" sz="2200" smtClean="0"/>
              <a:t>Tooth infections</a:t>
            </a:r>
          </a:p>
          <a:p>
            <a:pPr lvl="2"/>
            <a:r>
              <a:rPr lang="en-US" altLang="en-US" sz="2200" smtClean="0"/>
              <a:t>Ear infections</a:t>
            </a:r>
          </a:p>
          <a:p>
            <a:pPr lvl="2"/>
            <a:r>
              <a:rPr lang="en-US" altLang="en-US" sz="2200" smtClean="0"/>
              <a:t>Trauma</a:t>
            </a:r>
          </a:p>
          <a:p>
            <a:pPr lvl="2"/>
            <a:r>
              <a:rPr lang="en-US" altLang="en-US" sz="2200" smtClean="0"/>
              <a:t>Sinus infections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5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Cellulitis of the Orbit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Treatment includes antibiotics.</a:t>
            </a:r>
          </a:p>
          <a:p>
            <a:pPr lvl="1"/>
            <a:r>
              <a:rPr lang="en-US" altLang="en-US" smtClean="0"/>
              <a:t>Prehospital management includes: </a:t>
            </a:r>
          </a:p>
          <a:p>
            <a:pPr lvl="2"/>
            <a:r>
              <a:rPr lang="en-US" altLang="en-US" sz="2200" smtClean="0"/>
              <a:t>Ruling out life threats</a:t>
            </a:r>
          </a:p>
          <a:p>
            <a:pPr lvl="2"/>
            <a:r>
              <a:rPr lang="en-US" altLang="en-US" sz="2200" smtClean="0"/>
              <a:t>Obtaining a thorough history</a:t>
            </a:r>
          </a:p>
          <a:p>
            <a:pPr lvl="2"/>
            <a:r>
              <a:rPr lang="en-US" altLang="en-US" sz="2200" smtClean="0"/>
              <a:t>Transporting to the appropriate care site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29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Corneal Abrasion</a:t>
            </a:r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Most common eye injury</a:t>
            </a:r>
          </a:p>
          <a:p>
            <a:pPr lvl="1"/>
            <a:r>
              <a:rPr lang="en-US" altLang="en-US" smtClean="0"/>
              <a:t>Caused by direct trauma, foreign bodies, contact lenses, or exposure to ultraviolet radiation	</a:t>
            </a:r>
          </a:p>
          <a:p>
            <a:r>
              <a:rPr lang="en-US" altLang="en-US" smtClean="0"/>
              <a:t>Ulcer development without prompt treatment</a:t>
            </a:r>
          </a:p>
          <a:p>
            <a:pPr lvl="1"/>
            <a:r>
              <a:rPr lang="en-US" altLang="en-US" smtClean="0"/>
              <a:t>Can cause blindness if left untreated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50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Corneal Abrasion</a:t>
            </a:r>
          </a:p>
        </p:txBody>
      </p:sp>
      <p:sp>
        <p:nvSpPr>
          <p:cNvPr id="3891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Assessment </a:t>
            </a:r>
          </a:p>
          <a:p>
            <a:pPr lvl="1"/>
            <a:r>
              <a:rPr lang="en-US" altLang="en-US" dirty="0" smtClean="0"/>
              <a:t>Symptoms include:</a:t>
            </a:r>
          </a:p>
          <a:p>
            <a:pPr lvl="2"/>
            <a:r>
              <a:rPr lang="en-US" altLang="en-US" sz="2200" dirty="0" smtClean="0"/>
              <a:t>Pain</a:t>
            </a:r>
            <a:endParaRPr lang="en-US" altLang="en-US" sz="2200" dirty="0"/>
          </a:p>
          <a:p>
            <a:pPr lvl="2"/>
            <a:r>
              <a:rPr lang="en-US" altLang="en-US" sz="2200" dirty="0" smtClean="0"/>
              <a:t>Redness</a:t>
            </a:r>
            <a:endParaRPr lang="en-US" altLang="en-US" sz="2200" dirty="0"/>
          </a:p>
          <a:p>
            <a:pPr lvl="2"/>
            <a:r>
              <a:rPr lang="en-US" altLang="en-US" sz="2200" dirty="0"/>
              <a:t>Tearing</a:t>
            </a:r>
          </a:p>
          <a:p>
            <a:pPr lvl="2"/>
            <a:r>
              <a:rPr lang="en-US" altLang="en-US" sz="2200" dirty="0"/>
              <a:t>Feeling of something in </a:t>
            </a:r>
            <a:r>
              <a:rPr lang="en-US" altLang="en-US" sz="2200" dirty="0" smtClean="0"/>
              <a:t>eye</a:t>
            </a:r>
          </a:p>
          <a:p>
            <a:pPr lvl="2"/>
            <a:r>
              <a:rPr lang="en-US" altLang="en-US" sz="2200" dirty="0" smtClean="0"/>
              <a:t>Blurred vision or loss of vision</a:t>
            </a:r>
          </a:p>
          <a:p>
            <a:pPr lvl="2"/>
            <a:r>
              <a:rPr lang="en-US" altLang="en-US" sz="2200" dirty="0" smtClean="0"/>
              <a:t>Photophobia</a:t>
            </a:r>
          </a:p>
          <a:p>
            <a:pPr lvl="2"/>
            <a:r>
              <a:rPr lang="en-US" altLang="en-US" sz="2200" dirty="0" smtClean="0"/>
              <a:t>Headache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054836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ヒラギノ角ゴ Pro W3" charset="0"/>
              </a:rPr>
              <a:t>Corneal Abrasion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Management</a:t>
            </a:r>
          </a:p>
          <a:p>
            <a:pPr lvl="1"/>
            <a:r>
              <a:rPr lang="en-US" altLang="en-US" dirty="0"/>
              <a:t>Rule out life threats.</a:t>
            </a:r>
          </a:p>
          <a:p>
            <a:pPr lvl="1"/>
            <a:r>
              <a:rPr lang="en-US" altLang="en-US" dirty="0"/>
              <a:t>Take a thorough history.</a:t>
            </a:r>
          </a:p>
          <a:p>
            <a:pPr lvl="1"/>
            <a:r>
              <a:rPr lang="en-US" altLang="en-US" dirty="0"/>
              <a:t>Transport promptly. </a:t>
            </a:r>
          </a:p>
        </p:txBody>
      </p:sp>
    </p:spTree>
    <p:extLst>
      <p:ext uri="{BB962C8B-B14F-4D97-AF65-F5344CB8AC3E}">
        <p14:creationId xmlns:p14="http://schemas.microsoft.com/office/powerpoint/2010/main" val="24316073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8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</a:t>
            </a:r>
            <a:r>
              <a:rPr lang="en-US" dirty="0" smtClean="0">
                <a:cs typeface="ヒラギノ角ゴ Pro W3" charset="0"/>
              </a:rPr>
              <a:t>Ears</a:t>
            </a:r>
            <a:endParaRPr lang="en-US" dirty="0">
              <a:cs typeface="ヒラギノ角ゴ Pro W3" charset="0"/>
            </a:endParaRPr>
          </a:p>
        </p:txBody>
      </p:sp>
      <p:sp>
        <p:nvSpPr>
          <p:cNvPr id="3993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The ears are the primary structures for hearing and balance.</a:t>
            </a:r>
          </a:p>
          <a:p>
            <a:pPr lvl="1"/>
            <a:r>
              <a:rPr lang="en-US" altLang="en-US" smtClean="0"/>
              <a:t>Disorders and injuries can leave a person unable to:</a:t>
            </a:r>
          </a:p>
          <a:p>
            <a:pPr lvl="2"/>
            <a:r>
              <a:rPr lang="en-US" altLang="en-US" sz="2200" smtClean="0"/>
              <a:t>Communicate</a:t>
            </a:r>
          </a:p>
          <a:p>
            <a:pPr lvl="2"/>
            <a:r>
              <a:rPr lang="en-US" altLang="en-US" sz="2200" smtClean="0"/>
              <a:t>React</a:t>
            </a:r>
          </a:p>
          <a:p>
            <a:pPr lvl="2"/>
            <a:r>
              <a:rPr lang="en-US" altLang="en-US" sz="2200" smtClean="0"/>
              <a:t>Maintain equilibrium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006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Anatomy and Physiology </a:t>
            </a:r>
            <a:r>
              <a:rPr lang="en-US" dirty="0" smtClean="0">
                <a:cs typeface="ヒラギノ角ゴ Pro W3" charset="0"/>
              </a:rPr>
              <a:t>Review</a:t>
            </a:r>
            <a:endParaRPr lang="en-US" dirty="0">
              <a:cs typeface="ヒラギノ角ゴ Pro W3" charset="0"/>
            </a:endParaRPr>
          </a:p>
        </p:txBody>
      </p:sp>
      <p:sp>
        <p:nvSpPr>
          <p:cNvPr id="4096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The ear is divided into three anatomic parts.</a:t>
            </a:r>
          </a:p>
        </p:txBody>
      </p:sp>
      <p:pic>
        <p:nvPicPr>
          <p:cNvPr id="40964" name="Picture 4" descr="\\10.1.1.17\productions\ART\ART PROCESS\PPT Projects\Caroline_ITK_164887\Final PPT files\Batch 15\Batch 15\9781284137200_CH19_FIGF0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209800"/>
            <a:ext cx="7162800" cy="422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5" name="Rectangle 1"/>
          <p:cNvSpPr>
            <a:spLocks noChangeArrowheads="1"/>
          </p:cNvSpPr>
          <p:nvPr/>
        </p:nvSpPr>
        <p:spPr bwMode="auto">
          <a:xfrm>
            <a:off x="990600" y="6457950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2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Anatomy and Physiology </a:t>
            </a:r>
            <a:r>
              <a:rPr lang="en-US" dirty="0" smtClean="0">
                <a:cs typeface="ヒラギノ角ゴ Pro W3" charset="0"/>
              </a:rPr>
              <a:t>Review</a:t>
            </a:r>
            <a:endParaRPr lang="en-US" dirty="0">
              <a:cs typeface="ヒラギノ角ゴ Pro W3" charset="0"/>
            </a:endParaRP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Sound waves travel through the ear and internal ear structures from nerve impulses that travel to the brain via the auditory nerve. </a:t>
            </a:r>
          </a:p>
          <a:p>
            <a:pPr lvl="1"/>
            <a:r>
              <a:rPr lang="en-US" altLang="en-US" smtClean="0"/>
              <a:t>The brain converts these impulses into sound.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41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4301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Observe the scene for hazards.</a:t>
            </a:r>
          </a:p>
          <a:p>
            <a:r>
              <a:rPr lang="en-US" altLang="en-US" smtClean="0"/>
              <a:t>As you approach, assess:</a:t>
            </a:r>
          </a:p>
          <a:p>
            <a:pPr lvl="1"/>
            <a:r>
              <a:rPr lang="en-US" altLang="en-US" smtClean="0"/>
              <a:t>Age and sex of the patient</a:t>
            </a:r>
          </a:p>
          <a:p>
            <a:pPr lvl="1"/>
            <a:r>
              <a:rPr lang="en-US" altLang="en-US" smtClean="0"/>
              <a:t>Environmental conditions</a:t>
            </a:r>
          </a:p>
          <a:p>
            <a:pPr lvl="1"/>
            <a:r>
              <a:rPr lang="en-US" altLang="en-US" smtClean="0"/>
              <a:t>Degree of distress</a:t>
            </a:r>
          </a:p>
          <a:p>
            <a:pPr lvl="1"/>
            <a:r>
              <a:rPr lang="en-US" altLang="en-US" smtClean="0"/>
              <a:t>Presence of hearing aid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62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Ensure ABCs and manage life threats. </a:t>
            </a:r>
          </a:p>
          <a:p>
            <a:r>
              <a:rPr lang="en-US" altLang="en-US" smtClean="0"/>
              <a:t>Take a complete history.</a:t>
            </a:r>
          </a:p>
          <a:p>
            <a:r>
              <a:rPr lang="en-US" altLang="en-US" smtClean="0"/>
              <a:t>Observe ears for:</a:t>
            </a:r>
          </a:p>
          <a:p>
            <a:pPr lvl="1"/>
            <a:r>
              <a:rPr lang="en-US" altLang="en-US" smtClean="0"/>
              <a:t>Drainage</a:t>
            </a:r>
          </a:p>
          <a:p>
            <a:pPr lvl="1"/>
            <a:r>
              <a:rPr lang="en-US" altLang="en-US" smtClean="0"/>
              <a:t>Excess cerumen</a:t>
            </a:r>
          </a:p>
          <a:p>
            <a:pPr lvl="1"/>
            <a:r>
              <a:rPr lang="en-US" altLang="en-US" smtClean="0"/>
              <a:t>Inflammation</a:t>
            </a:r>
          </a:p>
          <a:p>
            <a:pPr lvl="1"/>
            <a:r>
              <a:rPr lang="en-US" altLang="en-US" smtClean="0"/>
              <a:t>Swelling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826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45059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962400" cy="4953000"/>
          </a:xfrm>
        </p:spPr>
        <p:txBody>
          <a:bodyPr/>
          <a:lstStyle/>
          <a:p>
            <a:r>
              <a:rPr lang="en-US" altLang="en-US" smtClean="0"/>
              <a:t>Have the patient rate his or her pain.</a:t>
            </a:r>
          </a:p>
          <a:p>
            <a:r>
              <a:rPr lang="en-US" altLang="en-US" smtClean="0"/>
              <a:t>Ask about:</a:t>
            </a:r>
          </a:p>
          <a:p>
            <a:pPr lvl="1"/>
            <a:r>
              <a:rPr lang="en-US" altLang="en-US" smtClean="0"/>
              <a:t>Changes in hearing</a:t>
            </a:r>
          </a:p>
          <a:p>
            <a:pPr lvl="1"/>
            <a:r>
              <a:rPr lang="en-US" altLang="en-US" smtClean="0"/>
              <a:t>Tinnitus </a:t>
            </a:r>
          </a:p>
          <a:p>
            <a:pPr lvl="1"/>
            <a:r>
              <a:rPr lang="en-US" altLang="en-US" smtClean="0"/>
              <a:t>Dizziness</a:t>
            </a:r>
          </a:p>
        </p:txBody>
      </p:sp>
      <p:sp>
        <p:nvSpPr>
          <p:cNvPr id="45060" name="Rectangle 9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447800"/>
            <a:ext cx="3810000" cy="4953000"/>
          </a:xfrm>
        </p:spPr>
        <p:txBody>
          <a:bodyPr/>
          <a:lstStyle/>
          <a:p>
            <a:r>
              <a:rPr lang="en-US" altLang="en-US" smtClean="0"/>
              <a:t>Inspect for:</a:t>
            </a:r>
          </a:p>
          <a:p>
            <a:pPr lvl="1"/>
            <a:r>
              <a:rPr lang="en-US" altLang="en-US" smtClean="0"/>
              <a:t>Wounds</a:t>
            </a:r>
          </a:p>
          <a:p>
            <a:pPr lvl="1"/>
            <a:r>
              <a:rPr lang="en-US" altLang="en-US" smtClean="0"/>
              <a:t>Swelling</a:t>
            </a:r>
          </a:p>
          <a:p>
            <a:pPr lvl="1"/>
            <a:r>
              <a:rPr lang="en-US" altLang="en-US" smtClean="0"/>
              <a:t>Drainage</a:t>
            </a:r>
          </a:p>
          <a:p>
            <a:pPr lvl="1"/>
            <a:r>
              <a:rPr lang="en-US" altLang="en-US" smtClean="0"/>
              <a:t>Battle sign of the mastoid process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Use of an Otoscope</a:t>
            </a:r>
            <a:endParaRPr lang="en-US" dirty="0"/>
          </a:p>
        </p:txBody>
      </p:sp>
      <p:sp>
        <p:nvSpPr>
          <p:cNvPr id="4608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mtClean="0"/>
              <a:t>Used to visualize abnormalities of the external canal and tympanic membrane</a:t>
            </a:r>
          </a:p>
          <a:p>
            <a:pPr lvl="1"/>
            <a:r>
              <a:rPr lang="en-US" altLang="en-US" smtClean="0"/>
              <a:t>Paramedics must work in expanded scope of practice.</a:t>
            </a:r>
          </a:p>
        </p:txBody>
      </p:sp>
      <p:pic>
        <p:nvPicPr>
          <p:cNvPr id="46084" name="Picture 4" descr="\\10.1.1.17\productions\ART\ART PROCESS\PPT Projects\Caroline_ITK_164887\Final PPT files\Batch 15\Batch 15\9781284137200_CH19_FIGF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219200"/>
            <a:ext cx="18034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5" name="Rectangle 2"/>
          <p:cNvSpPr>
            <a:spLocks noChangeArrowheads="1"/>
          </p:cNvSpPr>
          <p:nvPr/>
        </p:nvSpPr>
        <p:spPr bwMode="auto">
          <a:xfrm rot="-5400000">
            <a:off x="5064125" y="5240338"/>
            <a:ext cx="2008188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Terayut Janjaranuphab/Shutterstock.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2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Impacted Cerumen</a:t>
            </a:r>
          </a:p>
        </p:txBody>
      </p:sp>
      <p:sp>
        <p:nvSpPr>
          <p:cNvPr id="471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Yellowish oily substance found in ear canal</a:t>
            </a:r>
          </a:p>
          <a:p>
            <a:r>
              <a:rPr lang="en-US" altLang="en-US" smtClean="0"/>
              <a:t>May present as:</a:t>
            </a:r>
          </a:p>
          <a:p>
            <a:pPr lvl="1"/>
            <a:r>
              <a:rPr lang="en-US" altLang="ja-JP" smtClean="0"/>
              <a:t>Wet: a sticky brown color</a:t>
            </a:r>
          </a:p>
          <a:p>
            <a:pPr lvl="1"/>
            <a:r>
              <a:rPr lang="en-US" altLang="ja-JP" smtClean="0"/>
              <a:t>Dry: a grayish flaky substance</a:t>
            </a:r>
          </a:p>
          <a:p>
            <a:r>
              <a:rPr lang="en-US" altLang="en-US" smtClean="0"/>
              <a:t>Can become impacted and cause pressure on eardrum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4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Impacted Cerumen</a:t>
            </a:r>
          </a:p>
        </p:txBody>
      </p:sp>
      <p:sp>
        <p:nvSpPr>
          <p:cNvPr id="4813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Risk factors include:</a:t>
            </a:r>
          </a:p>
          <a:p>
            <a:pPr lvl="1"/>
            <a:r>
              <a:rPr lang="en-US" altLang="en-US" smtClean="0"/>
              <a:t>Abnormal ear canal shape</a:t>
            </a:r>
          </a:p>
          <a:p>
            <a:pPr lvl="1"/>
            <a:r>
              <a:rPr lang="en-US" altLang="en-US" smtClean="0"/>
              <a:t>Diseases that cause increased cerumen</a:t>
            </a:r>
          </a:p>
          <a:p>
            <a:pPr lvl="1"/>
            <a:r>
              <a:rPr lang="en-US" altLang="en-US" smtClean="0"/>
              <a:t>Improper use of cotton swabs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64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Impacted Cerumen</a:t>
            </a:r>
          </a:p>
        </p:txBody>
      </p:sp>
      <p:sp>
        <p:nvSpPr>
          <p:cNvPr id="4915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Symptoms may include:</a:t>
            </a:r>
          </a:p>
          <a:p>
            <a:pPr lvl="2"/>
            <a:r>
              <a:rPr lang="en-US" altLang="en-US" sz="2200" smtClean="0"/>
              <a:t>Pressure or fullness in the ears</a:t>
            </a:r>
          </a:p>
          <a:p>
            <a:pPr lvl="2"/>
            <a:r>
              <a:rPr lang="en-US" altLang="en-US" sz="2200" smtClean="0"/>
              <a:t>Ringing in the ears</a:t>
            </a:r>
          </a:p>
          <a:p>
            <a:pPr lvl="2"/>
            <a:r>
              <a:rPr lang="en-US" altLang="en-US" sz="2200" smtClean="0"/>
              <a:t>Loss of hearing</a:t>
            </a:r>
          </a:p>
          <a:p>
            <a:pPr lvl="2"/>
            <a:r>
              <a:rPr lang="en-US" altLang="en-US" sz="2200" smtClean="0"/>
              <a:t>Pain or itching</a:t>
            </a:r>
          </a:p>
          <a:p>
            <a:pPr lvl="1"/>
            <a:r>
              <a:rPr lang="en-US" altLang="en-US" smtClean="0"/>
              <a:t>Prehospital treatment includes:</a:t>
            </a:r>
          </a:p>
          <a:p>
            <a:pPr lvl="2"/>
            <a:r>
              <a:rPr lang="en-US" altLang="en-US" sz="2200" smtClean="0"/>
              <a:t>Thorough history</a:t>
            </a:r>
          </a:p>
          <a:p>
            <a:pPr lvl="2"/>
            <a:r>
              <a:rPr lang="en-US" altLang="en-US" sz="2200" smtClean="0"/>
              <a:t>Visual inspection of the 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05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Labyrinthitis</a:t>
            </a:r>
          </a:p>
        </p:txBody>
      </p:sp>
      <p:sp>
        <p:nvSpPr>
          <p:cNvPr id="5017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Feeling of vertigo or loss of balance after an ear infection or upper respiratory infection</a:t>
            </a:r>
          </a:p>
          <a:p>
            <a:r>
              <a:rPr lang="en-US" altLang="en-US" smtClean="0"/>
              <a:t>Effect on the nerves from irritation and swelling</a:t>
            </a:r>
          </a:p>
          <a:p>
            <a:pPr lvl="1"/>
            <a:r>
              <a:rPr lang="en-US" altLang="en-US" smtClean="0"/>
              <a:t>Symptoms may include:</a:t>
            </a:r>
          </a:p>
          <a:p>
            <a:pPr lvl="2"/>
            <a:r>
              <a:rPr lang="en-US" altLang="en-US" sz="2200" smtClean="0"/>
              <a:t>Loss of balance</a:t>
            </a:r>
          </a:p>
          <a:p>
            <a:pPr lvl="2"/>
            <a:r>
              <a:rPr lang="en-US" altLang="en-US" sz="2200" smtClean="0"/>
              <a:t>Ringing in the ears</a:t>
            </a:r>
          </a:p>
          <a:p>
            <a:pPr lvl="2"/>
            <a:r>
              <a:rPr lang="en-US" altLang="en-US" sz="2200" smtClean="0"/>
              <a:t>Loss of hearing</a:t>
            </a:r>
          </a:p>
          <a:p>
            <a:pPr lvl="2"/>
            <a:r>
              <a:rPr lang="en-US" altLang="en-US" sz="2200" smtClean="0"/>
              <a:t>Vomiting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25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Labyrinthitis</a:t>
            </a:r>
          </a:p>
        </p:txBody>
      </p:sp>
      <p:sp>
        <p:nvSpPr>
          <p:cNvPr id="5120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Prehospital treatment is directed at:</a:t>
            </a:r>
          </a:p>
          <a:p>
            <a:pPr lvl="2"/>
            <a:r>
              <a:rPr lang="en-US" altLang="en-US" sz="2200" smtClean="0"/>
              <a:t>Reducing nausea and vomiting</a:t>
            </a:r>
          </a:p>
          <a:p>
            <a:pPr lvl="2"/>
            <a:r>
              <a:rPr lang="en-US" altLang="en-US" sz="2200" smtClean="0"/>
              <a:t>Transporting the patient in a position of comfort</a:t>
            </a:r>
          </a:p>
          <a:p>
            <a:pPr lvl="1"/>
            <a:r>
              <a:rPr lang="en-US" altLang="en-US" smtClean="0"/>
              <a:t>Serious disorders will need to be ruled out by a CT scan and an MRI.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46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Meniere Disease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Chronic condition characterized by:</a:t>
            </a:r>
          </a:p>
          <a:p>
            <a:pPr lvl="1"/>
            <a:r>
              <a:rPr lang="en-US" altLang="en-US" smtClean="0"/>
              <a:t>Dizziness described as spinning vertigo</a:t>
            </a:r>
          </a:p>
          <a:p>
            <a:pPr lvl="1"/>
            <a:r>
              <a:rPr lang="en-US" altLang="en-US" smtClean="0"/>
              <a:t>Low-frequency hearing loss</a:t>
            </a:r>
          </a:p>
          <a:p>
            <a:pPr lvl="1"/>
            <a:r>
              <a:rPr lang="en-US" altLang="en-US" smtClean="0"/>
              <a:t>Tinnitus</a:t>
            </a:r>
          </a:p>
          <a:p>
            <a:pPr lvl="1"/>
            <a:r>
              <a:rPr lang="en-US" altLang="en-US" smtClean="0"/>
              <a:t>Feeling of fullness in the affected ear</a:t>
            </a:r>
          </a:p>
          <a:p>
            <a:r>
              <a:rPr lang="en-US" altLang="en-US" smtClean="0"/>
              <a:t>Overproduction and defective absorption of endolymphatic fluid</a:t>
            </a:r>
          </a:p>
          <a:p>
            <a:pPr lvl="1"/>
            <a:r>
              <a:rPr lang="en-US" altLang="en-US" smtClean="0"/>
              <a:t>Increases volume and pressure within the inner 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66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Meniere Disease</a:t>
            </a:r>
          </a:p>
        </p:txBody>
      </p:sp>
      <p:sp>
        <p:nvSpPr>
          <p:cNvPr id="532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Prehospital care includes an antiemetic.</a:t>
            </a:r>
          </a:p>
          <a:p>
            <a:pPr lvl="1"/>
            <a:r>
              <a:rPr lang="en-US" altLang="en-US" smtClean="0"/>
              <a:t>Physician may treat with diuretics and an antiemetic.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87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Otitis Externa and Media</a:t>
            </a:r>
          </a:p>
        </p:txBody>
      </p:sp>
      <p:sp>
        <p:nvSpPr>
          <p:cNvPr id="542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Infection resulting from bacterial growth in the ear canal</a:t>
            </a:r>
          </a:p>
          <a:p>
            <a:pPr lvl="1"/>
            <a:r>
              <a:rPr lang="en-US" altLang="en-US" smtClean="0"/>
              <a:t>Otitis externa—outer ear </a:t>
            </a:r>
          </a:p>
          <a:p>
            <a:pPr lvl="1"/>
            <a:r>
              <a:rPr lang="en-US" altLang="en-US" smtClean="0"/>
              <a:t>Otitis media—middle ear</a:t>
            </a:r>
          </a:p>
          <a:p>
            <a:r>
              <a:rPr lang="en-US" altLang="en-US" smtClean="0"/>
              <a:t>More common in children than adults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07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Otitis Externa and Media</a:t>
            </a:r>
          </a:p>
        </p:txBody>
      </p:sp>
      <p:sp>
        <p:nvSpPr>
          <p:cNvPr id="5529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Signs and symptoms may include:</a:t>
            </a:r>
          </a:p>
          <a:p>
            <a:pPr lvl="2"/>
            <a:r>
              <a:rPr lang="en-US" altLang="en-US" sz="2200" smtClean="0"/>
              <a:t>Edema and erythema</a:t>
            </a:r>
          </a:p>
          <a:p>
            <a:pPr lvl="2"/>
            <a:r>
              <a:rPr lang="en-US" altLang="en-US" sz="2200" smtClean="0"/>
              <a:t>Diminished hearing acuity</a:t>
            </a:r>
          </a:p>
          <a:p>
            <a:pPr lvl="2"/>
            <a:r>
              <a:rPr lang="en-US" altLang="en-US" sz="2200" smtClean="0"/>
              <a:t>Inflamed, bulging tympanic membrane </a:t>
            </a:r>
          </a:p>
          <a:p>
            <a:pPr lvl="1"/>
            <a:r>
              <a:rPr lang="en-US" altLang="en-US" smtClean="0"/>
              <a:t>Prehospital treatment includes relieving unbearable symptoms.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69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Nose</a:t>
            </a:r>
          </a:p>
        </p:txBody>
      </p:sp>
      <p:sp>
        <p:nvSpPr>
          <p:cNvPr id="563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The nose is susceptible to injury because of its prominence.</a:t>
            </a:r>
          </a:p>
          <a:p>
            <a:pPr lvl="1"/>
            <a:r>
              <a:rPr lang="en-US" altLang="en-US" smtClean="0"/>
              <a:t>Allergens, particles, and chemicals can cause inflammation, infection, and injury.</a:t>
            </a:r>
          </a:p>
          <a:p>
            <a:r>
              <a:rPr lang="en-US" altLang="en-US" smtClean="0"/>
              <a:t>Inside of the nose is extremely vascular.</a:t>
            </a:r>
          </a:p>
          <a:p>
            <a:pPr lvl="1"/>
            <a:r>
              <a:rPr lang="en-US" altLang="en-US" smtClean="0"/>
              <a:t>Excellent route for some medicines.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89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Nose</a:t>
            </a:r>
          </a:p>
        </p:txBody>
      </p:sp>
      <p:sp>
        <p:nvSpPr>
          <p:cNvPr id="5734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Smelling disorders include:</a:t>
            </a:r>
          </a:p>
          <a:p>
            <a:pPr lvl="1"/>
            <a:r>
              <a:rPr lang="en-US" altLang="en-US" smtClean="0"/>
              <a:t>Anosmia (total loss of sense of smell)</a:t>
            </a:r>
          </a:p>
          <a:p>
            <a:pPr lvl="1"/>
            <a:r>
              <a:rPr lang="en-US" altLang="en-US" smtClean="0"/>
              <a:t>Dysosmia (distorted sense of smell)</a:t>
            </a:r>
          </a:p>
          <a:p>
            <a:pPr lvl="1"/>
            <a:r>
              <a:rPr lang="en-US" altLang="en-US" smtClean="0"/>
              <a:t>Hyperosmia (increased sensitivity to smell)</a:t>
            </a:r>
          </a:p>
          <a:p>
            <a:pPr lvl="1"/>
            <a:r>
              <a:rPr lang="en-US" altLang="en-US" smtClean="0"/>
              <a:t>Hyposmia (decreased sense of smell)</a:t>
            </a:r>
          </a:p>
          <a:p>
            <a:pPr lvl="1"/>
            <a:r>
              <a:rPr lang="en-US" altLang="en-US" smtClean="0"/>
              <a:t>Presbyosmia (loss of smell from normal aging)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103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Anatomy and Physiology </a:t>
            </a:r>
            <a:r>
              <a:rPr lang="en-US" dirty="0" smtClean="0">
                <a:cs typeface="ヒラギノ角ゴ Pro W3" charset="0"/>
              </a:rPr>
              <a:t>Review</a:t>
            </a:r>
            <a:endParaRPr lang="en-US" dirty="0">
              <a:cs typeface="ヒラギノ角ゴ Pro W3" charset="0"/>
            </a:endParaRPr>
          </a:p>
        </p:txBody>
      </p:sp>
      <p:sp>
        <p:nvSpPr>
          <p:cNvPr id="58371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z="2600" smtClean="0"/>
              <a:t>One of two primary entry points for oxygen</a:t>
            </a:r>
          </a:p>
          <a:p>
            <a:r>
              <a:rPr lang="en-US" altLang="en-US" sz="2600" smtClean="0"/>
              <a:t>Warms and humidifies air as it enters the body</a:t>
            </a:r>
          </a:p>
        </p:txBody>
      </p:sp>
      <p:pic>
        <p:nvPicPr>
          <p:cNvPr id="58372" name="Picture 4" descr="\\10.1.1.17\productions\ART\ART PROCESS\PPT Projects\Caroline_ITK_164887\Final PPT files\Batch 15\Batch 15\9781284137200_CH19_FIGF1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524000"/>
            <a:ext cx="4097338" cy="460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3" name="Rectangle 1"/>
          <p:cNvSpPr>
            <a:spLocks noChangeArrowheads="1"/>
          </p:cNvSpPr>
          <p:nvPr/>
        </p:nvSpPr>
        <p:spPr bwMode="auto">
          <a:xfrm>
            <a:off x="4724400" y="6153150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3080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Anatomy and Physiology Review</a:t>
            </a:r>
          </a:p>
        </p:txBody>
      </p:sp>
      <p:sp>
        <p:nvSpPr>
          <p:cNvPr id="5939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Contains bony structures</a:t>
            </a:r>
          </a:p>
          <a:p>
            <a:r>
              <a:rPr lang="en-US" altLang="en-US" smtClean="0"/>
              <a:t>Connected with the sinuses</a:t>
            </a:r>
          </a:p>
        </p:txBody>
      </p:sp>
      <p:pic>
        <p:nvPicPr>
          <p:cNvPr id="59396" name="Picture 4" descr="\\10.1.1.17\productions\ART\ART PROCESS\PPT Projects\Caroline_ITK_164887\Final PPT files\Batch 15\Batch 15\9781284137200_CH19_FIGF1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371600"/>
            <a:ext cx="4297363" cy="491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4659313" y="6313488"/>
            <a:ext cx="14446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51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6041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Look for environmental clues.</a:t>
            </a:r>
          </a:p>
          <a:p>
            <a:r>
              <a:rPr lang="en-US" altLang="en-US" smtClean="0"/>
              <a:t>Ensure scene safety.</a:t>
            </a:r>
          </a:p>
          <a:p>
            <a:r>
              <a:rPr lang="en-US" altLang="en-US" smtClean="0"/>
              <a:t>Assess airway and breathing.</a:t>
            </a:r>
          </a:p>
          <a:p>
            <a:r>
              <a:rPr lang="en-US" altLang="en-US" smtClean="0"/>
              <a:t>Determine level of distress.</a:t>
            </a:r>
          </a:p>
          <a:p>
            <a:r>
              <a:rPr lang="en-US" altLang="en-US" smtClean="0"/>
              <a:t>Nasal cavities are prone to bleeding.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71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6144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Insert an airway adjunct as needed.</a:t>
            </a:r>
          </a:p>
          <a:p>
            <a:pPr lvl="1"/>
            <a:r>
              <a:rPr lang="en-US" altLang="en-US" smtClean="0"/>
              <a:t>Do not insert a nasopharyngeal airway or attempt nasotracheal intubation with:</a:t>
            </a:r>
          </a:p>
          <a:p>
            <a:pPr lvl="2"/>
            <a:r>
              <a:rPr lang="en-US" altLang="en-US" sz="2200" smtClean="0"/>
              <a:t>Suspected nasal fractures </a:t>
            </a:r>
          </a:p>
          <a:p>
            <a:pPr lvl="2"/>
            <a:r>
              <a:rPr lang="en-US" altLang="en-US" sz="2200" smtClean="0"/>
              <a:t>CSF or blood leakage from the nose </a:t>
            </a:r>
          </a:p>
          <a:p>
            <a:pPr lvl="1"/>
            <a:r>
              <a:rPr lang="en-US" altLang="en-US" smtClean="0"/>
              <a:t>Inquire about the patient’s history of nose conditions.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92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Epistaxis</a:t>
            </a:r>
          </a:p>
        </p:txBody>
      </p:sp>
      <p:sp>
        <p:nvSpPr>
          <p:cNvPr id="62467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dirty="0" smtClean="0"/>
              <a:t>Nosebleed </a:t>
            </a:r>
          </a:p>
          <a:p>
            <a:pPr lvl="1"/>
            <a:r>
              <a:rPr lang="en-US" altLang="en-US" dirty="0" smtClean="0"/>
              <a:t>Causes	</a:t>
            </a:r>
          </a:p>
          <a:p>
            <a:pPr lvl="2"/>
            <a:r>
              <a:rPr lang="en-US" altLang="en-US" sz="2200" dirty="0" smtClean="0"/>
              <a:t>Digital trauma</a:t>
            </a:r>
          </a:p>
          <a:p>
            <a:pPr lvl="2"/>
            <a:r>
              <a:rPr lang="en-US" altLang="en-US" sz="2200" dirty="0" smtClean="0"/>
              <a:t>Dryness</a:t>
            </a:r>
          </a:p>
          <a:p>
            <a:pPr lvl="2"/>
            <a:r>
              <a:rPr lang="en-US" altLang="en-US" sz="2200" dirty="0" smtClean="0"/>
              <a:t>Hypertension</a:t>
            </a:r>
            <a:endParaRPr lang="en-US" altLang="en-US" sz="2200" dirty="0" smtClean="0"/>
          </a:p>
        </p:txBody>
      </p:sp>
      <p:sp>
        <p:nvSpPr>
          <p:cNvPr id="62468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dirty="0" smtClean="0"/>
              <a:t> </a:t>
            </a:r>
            <a:endParaRPr lang="en-US" alt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ヒラギノ角ゴ Pro W3" charset="0"/>
              </a:rPr>
              <a:t>Epistaxis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dirty="0"/>
              <a:t>Anterior </a:t>
            </a:r>
          </a:p>
          <a:p>
            <a:pPr lvl="1"/>
            <a:r>
              <a:rPr lang="en-US" altLang="en-US" dirty="0"/>
              <a:t>Bleed fairly slowly</a:t>
            </a:r>
          </a:p>
          <a:p>
            <a:pPr lvl="1"/>
            <a:r>
              <a:rPr lang="en-US" altLang="en-US" dirty="0"/>
              <a:t>Self-limiting and resolve </a:t>
            </a:r>
            <a:r>
              <a:rPr lang="en-US" altLang="en-US" dirty="0" smtClean="0"/>
              <a:t>quickly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dirty="0"/>
              <a:t>Posterior</a:t>
            </a:r>
          </a:p>
          <a:p>
            <a:pPr lvl="1"/>
            <a:r>
              <a:rPr lang="en-US" altLang="en-US" dirty="0"/>
              <a:t>More severe</a:t>
            </a:r>
          </a:p>
          <a:p>
            <a:pPr lvl="1"/>
            <a:r>
              <a:rPr lang="en-US" altLang="en-US" dirty="0"/>
              <a:t>Often cause blood to drain into the throat, causing nausea and </a:t>
            </a:r>
            <a:r>
              <a:rPr lang="en-US" altLang="en-US" dirty="0" smtClean="0"/>
              <a:t>vomiting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0998958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12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Epistaxis</a:t>
            </a:r>
          </a:p>
        </p:txBody>
      </p:sp>
      <p:sp>
        <p:nvSpPr>
          <p:cNvPr id="6349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Assessment and management:</a:t>
            </a:r>
          </a:p>
          <a:p>
            <a:pPr lvl="1"/>
            <a:r>
              <a:rPr lang="en-US" altLang="en-US" smtClean="0"/>
              <a:t>Try to estimate blood loss.</a:t>
            </a:r>
          </a:p>
          <a:p>
            <a:pPr lvl="1"/>
            <a:r>
              <a:rPr lang="en-US" altLang="en-US" smtClean="0"/>
              <a:t>Place a nontrauma patient in a sitting position and pinch nostrils together.</a:t>
            </a:r>
          </a:p>
          <a:p>
            <a:pPr lvl="1"/>
            <a:r>
              <a:rPr lang="en-US" altLang="en-US" smtClean="0"/>
              <a:t>Direct the patient not to sniff or blow his or her nose.</a:t>
            </a:r>
          </a:p>
        </p:txBody>
      </p:sp>
      <p:pic>
        <p:nvPicPr>
          <p:cNvPr id="63492" name="Picture 4" descr="\\10.1.1.17\productions\ART\ART PROCESS\PPT Projects\Caroline_ITK_164887\Final PPT files\Batch 15\Batch 15\9781284137200_CH19_FIGF13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295400"/>
            <a:ext cx="37338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493" name="Picture 5" descr="\\10.1.1.17\productions\ART\ART PROCESS\PPT Projects\Caroline_ITK_164887\Final PPT files\Batch 15\Batch 15\9781284137200_CH19_FIGF13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962400"/>
            <a:ext cx="37338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4" name="Rectangle 5"/>
          <p:cNvSpPr>
            <a:spLocks noChangeArrowheads="1"/>
          </p:cNvSpPr>
          <p:nvPr/>
        </p:nvSpPr>
        <p:spPr bwMode="auto">
          <a:xfrm rot="-5400000">
            <a:off x="8033544" y="5660231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  <p:sp>
        <p:nvSpPr>
          <p:cNvPr id="63495" name="Rectangle 6"/>
          <p:cNvSpPr>
            <a:spLocks noChangeArrowheads="1"/>
          </p:cNvSpPr>
          <p:nvPr/>
        </p:nvSpPr>
        <p:spPr bwMode="auto">
          <a:xfrm rot="-5400000">
            <a:off x="8047831" y="2993232"/>
            <a:ext cx="14446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3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Foreign Body</a:t>
            </a:r>
          </a:p>
        </p:txBody>
      </p:sp>
      <p:sp>
        <p:nvSpPr>
          <p:cNvPr id="6451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 foreign body is most likely to be seen in pediatric patients.</a:t>
            </a:r>
          </a:p>
          <a:p>
            <a:r>
              <a:rPr lang="en-US" altLang="en-US" smtClean="0"/>
              <a:t>Pressure in the nasal passage can cause:</a:t>
            </a:r>
          </a:p>
          <a:p>
            <a:pPr lvl="1"/>
            <a:r>
              <a:rPr lang="en-US" altLang="en-US" smtClean="0"/>
              <a:t>Tissue necrosis</a:t>
            </a:r>
          </a:p>
          <a:p>
            <a:pPr lvl="1"/>
            <a:r>
              <a:rPr lang="en-US" altLang="en-US" smtClean="0"/>
              <a:t>Inflammation</a:t>
            </a:r>
          </a:p>
          <a:p>
            <a:pPr lvl="1"/>
            <a:r>
              <a:rPr lang="en-US" altLang="en-US" smtClean="0"/>
              <a:t>Swelling</a:t>
            </a:r>
          </a:p>
          <a:p>
            <a:r>
              <a:rPr lang="en-US" altLang="en-US" smtClean="0"/>
              <a:t>Inflammation can cause tissue ulceration and epistaxis.</a:t>
            </a:r>
          </a:p>
          <a:p>
            <a:r>
              <a:rPr lang="en-US" altLang="en-US" smtClean="0"/>
              <a:t>Nasal blockage can lead to sinusitis. </a:t>
            </a:r>
          </a:p>
          <a:p>
            <a:endParaRPr lang="en-US" altLang="en-US" smtClean="0"/>
          </a:p>
          <a:p>
            <a:pPr lvl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53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Foreign Body</a:t>
            </a:r>
          </a:p>
        </p:txBody>
      </p:sp>
      <p:sp>
        <p:nvSpPr>
          <p:cNvPr id="6553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Determine if condition is life-threatening.</a:t>
            </a:r>
          </a:p>
          <a:p>
            <a:pPr lvl="1"/>
            <a:r>
              <a:rPr lang="en-US" altLang="en-US" smtClean="0"/>
              <a:t>Any persistent, foul-smelling, purulent discharge should lead to suspicion.</a:t>
            </a:r>
          </a:p>
          <a:p>
            <a:pPr lvl="2"/>
            <a:r>
              <a:rPr lang="en-US" altLang="en-US" sz="2200" smtClean="0"/>
              <a:t>Let discharge drain. </a:t>
            </a:r>
          </a:p>
          <a:p>
            <a:pPr lvl="1"/>
            <a:r>
              <a:rPr lang="en-US" altLang="en-US" smtClean="0"/>
              <a:t>Transport the patient in a position of comfort.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74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Rhinitis</a:t>
            </a:r>
          </a:p>
        </p:txBody>
      </p:sp>
      <p:sp>
        <p:nvSpPr>
          <p:cNvPr id="6656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Inflammation of the nasal cavity</a:t>
            </a:r>
          </a:p>
          <a:p>
            <a:r>
              <a:rPr lang="en-US" altLang="en-US" smtClean="0"/>
              <a:t>May be caused by:</a:t>
            </a:r>
          </a:p>
          <a:p>
            <a:pPr lvl="1"/>
            <a:r>
              <a:rPr lang="en-US" altLang="en-US" smtClean="0"/>
              <a:t>Bacterial infection</a:t>
            </a:r>
          </a:p>
          <a:p>
            <a:pPr lvl="1"/>
            <a:r>
              <a:rPr lang="en-US" altLang="en-US" smtClean="0"/>
              <a:t>Viral infection</a:t>
            </a:r>
          </a:p>
          <a:p>
            <a:pPr lvl="1"/>
            <a:r>
              <a:rPr lang="en-US" altLang="en-US" smtClean="0"/>
              <a:t>Allergens</a:t>
            </a:r>
          </a:p>
          <a:p>
            <a:pPr lvl="1"/>
            <a:r>
              <a:rPr lang="en-US" altLang="en-US" smtClean="0"/>
              <a:t>Medications</a:t>
            </a:r>
          </a:p>
          <a:p>
            <a:pPr lvl="1"/>
            <a:r>
              <a:rPr lang="en-US" altLang="en-US" smtClean="0"/>
              <a:t>Changes in environmental temperature</a:t>
            </a:r>
          </a:p>
          <a:p>
            <a:pPr lvl="1"/>
            <a:r>
              <a:rPr lang="en-US" altLang="en-US" smtClean="0"/>
              <a:t>Other factors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94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Rhinitis</a:t>
            </a:r>
          </a:p>
        </p:txBody>
      </p:sp>
      <p:sp>
        <p:nvSpPr>
          <p:cNvPr id="675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treatment</a:t>
            </a:r>
          </a:p>
          <a:p>
            <a:pPr lvl="1"/>
            <a:r>
              <a:rPr lang="en-US" altLang="en-US" smtClean="0"/>
              <a:t>Signs and symptoms may include:</a:t>
            </a:r>
          </a:p>
          <a:p>
            <a:pPr lvl="2"/>
            <a:r>
              <a:rPr lang="en-US" altLang="en-US" sz="2200" smtClean="0"/>
              <a:t>Nasal congestion</a:t>
            </a:r>
          </a:p>
          <a:p>
            <a:pPr lvl="2"/>
            <a:r>
              <a:rPr lang="en-US" altLang="en-US" sz="2200" smtClean="0"/>
              <a:t>Sneezing</a:t>
            </a:r>
          </a:p>
          <a:p>
            <a:pPr lvl="2"/>
            <a:r>
              <a:rPr lang="en-US" altLang="en-US" sz="2200" smtClean="0"/>
              <a:t>Itchy, runny nose and eyes</a:t>
            </a:r>
          </a:p>
          <a:p>
            <a:pPr lvl="2"/>
            <a:r>
              <a:rPr lang="en-US" altLang="en-US" sz="2200" smtClean="0"/>
              <a:t>Postnasal drip</a:t>
            </a:r>
          </a:p>
          <a:p>
            <a:pPr lvl="1"/>
            <a:r>
              <a:rPr lang="en-US" altLang="en-US" smtClean="0"/>
              <a:t>Keep the patient in the Fowler position.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Sinusitis</a:t>
            </a:r>
          </a:p>
        </p:txBody>
      </p:sp>
      <p:sp>
        <p:nvSpPr>
          <p:cNvPr id="6861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Sinus inflammation</a:t>
            </a:r>
          </a:p>
          <a:p>
            <a:pPr lvl="1"/>
            <a:r>
              <a:rPr lang="en-US" altLang="en-US" smtClean="0"/>
              <a:t>Drainage from sinuses becomes disrupted</a:t>
            </a:r>
          </a:p>
          <a:p>
            <a:r>
              <a:rPr lang="en-US" altLang="en-US" smtClean="0"/>
              <a:t>A variety of symptoms</a:t>
            </a:r>
          </a:p>
          <a:p>
            <a:r>
              <a:rPr lang="en-US" altLang="en-US" smtClean="0"/>
              <a:t>Affects 29.3 million adult Americans per year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35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Sinusitis</a:t>
            </a:r>
          </a:p>
        </p:txBody>
      </p:sp>
      <p:sp>
        <p:nvSpPr>
          <p:cNvPr id="6963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This condition can be chronic, acute, or recurrent.</a:t>
            </a:r>
          </a:p>
          <a:p>
            <a:pPr lvl="1"/>
            <a:r>
              <a:rPr lang="en-US" altLang="en-US" smtClean="0"/>
              <a:t>Treat any respiratory compromise and transport.</a:t>
            </a:r>
          </a:p>
          <a:p>
            <a:pPr lvl="1"/>
            <a:r>
              <a:rPr lang="en-US" altLang="en-US" smtClean="0"/>
              <a:t>Treatment is aimed at reducing inflammation and draining the sinuses.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Throat</a:t>
            </a:r>
          </a:p>
        </p:txBody>
      </p:sp>
      <p:sp>
        <p:nvSpPr>
          <p:cNvPr id="7065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Disorders of the pharynx and larynx may include inflammation, infections, or abnormal growths.</a:t>
            </a:r>
          </a:p>
          <a:p>
            <a:r>
              <a:rPr lang="en-US" altLang="en-US" smtClean="0"/>
              <a:t>Throat infections are common in children.</a:t>
            </a:r>
          </a:p>
          <a:p>
            <a:r>
              <a:rPr lang="en-US" altLang="en-US" smtClean="0"/>
              <a:t>Throat problems can be exacerbated by swallowing problems.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6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Throat</a:t>
            </a:r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Esophageal disorders can affect the throat.</a:t>
            </a:r>
          </a:p>
          <a:p>
            <a:r>
              <a:rPr lang="en-US" altLang="en-US" smtClean="0"/>
              <a:t>In esophageal reflux, the valve only partially closes or opens too much.</a:t>
            </a:r>
          </a:p>
          <a:p>
            <a:pPr lvl="1"/>
            <a:r>
              <a:rPr lang="en-US" altLang="en-US" smtClean="0"/>
              <a:t>Symptoms include:</a:t>
            </a:r>
          </a:p>
          <a:p>
            <a:pPr lvl="2"/>
            <a:r>
              <a:rPr lang="en-US" altLang="en-US" sz="2200" smtClean="0"/>
              <a:t>Burning sensation in the chest</a:t>
            </a:r>
          </a:p>
          <a:p>
            <a:pPr lvl="2"/>
            <a:r>
              <a:rPr lang="en-US" altLang="en-US" sz="2200" smtClean="0"/>
              <a:t>Indigestion</a:t>
            </a:r>
          </a:p>
          <a:p>
            <a:pPr lvl="2"/>
            <a:r>
              <a:rPr lang="en-US" altLang="en-US" sz="2200" smtClean="0"/>
              <a:t>Change in voice tone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97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Anatomy and Physiology </a:t>
            </a:r>
            <a:r>
              <a:rPr lang="en-US" dirty="0" smtClean="0">
                <a:cs typeface="ヒラギノ角ゴ Pro W3" charset="0"/>
              </a:rPr>
              <a:t>Review</a:t>
            </a:r>
            <a:endParaRPr lang="en-US" dirty="0">
              <a:cs typeface="ヒラギノ角ゴ Pro W3" charset="0"/>
            </a:endParaRPr>
          </a:p>
        </p:txBody>
      </p:sp>
      <p:sp>
        <p:nvSpPr>
          <p:cNvPr id="72707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Assessment begins at the opening of the mouth with the teeth. </a:t>
            </a:r>
          </a:p>
        </p:txBody>
      </p:sp>
      <p:pic>
        <p:nvPicPr>
          <p:cNvPr id="72708" name="Picture 5" descr="\\10.1.1.17\productions\ART\ART PROCESS\PPT Projects\Caroline_ITK_164887\Final PPT files\Batch 15\Batch 15\9781284137200_CH19_FIGF14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641600"/>
            <a:ext cx="3276600" cy="3767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09" name="Picture 6" descr="\\10.1.1.17\productions\ART\ART PROCESS\PPT Projects\Caroline_ITK_164887\Final PPT files\Batch 15\Batch 15\9781284137200_CH19_FIGF14B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6500" y="2641600"/>
            <a:ext cx="4976813" cy="377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10" name="Rectangle 5"/>
          <p:cNvSpPr>
            <a:spLocks noChangeArrowheads="1"/>
          </p:cNvSpPr>
          <p:nvPr/>
        </p:nvSpPr>
        <p:spPr bwMode="auto">
          <a:xfrm>
            <a:off x="381000" y="6423025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  <p:sp>
        <p:nvSpPr>
          <p:cNvPr id="72711" name="Rectangle 6"/>
          <p:cNvSpPr>
            <a:spLocks noChangeArrowheads="1"/>
          </p:cNvSpPr>
          <p:nvPr/>
        </p:nvSpPr>
        <p:spPr bwMode="auto">
          <a:xfrm rot="-5400000">
            <a:off x="8080375" y="5627688"/>
            <a:ext cx="14446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789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cs typeface="ヒラギノ角ゴ Pro W3" charset="0"/>
              </a:rPr>
              <a:t>The Mouth</a:t>
            </a:r>
            <a:endParaRPr lang="en-US" dirty="0">
              <a:cs typeface="ヒラギノ角ゴ Pro W3" charset="0"/>
            </a:endParaRPr>
          </a:p>
        </p:txBody>
      </p:sp>
      <p:sp>
        <p:nvSpPr>
          <p:cNvPr id="73731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Nerves:</a:t>
            </a:r>
          </a:p>
          <a:p>
            <a:pPr lvl="1"/>
            <a:r>
              <a:rPr lang="en-US" altLang="en-US" smtClean="0"/>
              <a:t>Hypoglossal</a:t>
            </a:r>
          </a:p>
          <a:p>
            <a:pPr lvl="1"/>
            <a:r>
              <a:rPr lang="en-US" altLang="en-US" smtClean="0"/>
              <a:t>Glossopharyngeal</a:t>
            </a:r>
          </a:p>
          <a:p>
            <a:pPr lvl="1"/>
            <a:r>
              <a:rPr lang="en-US" altLang="en-US" smtClean="0"/>
              <a:t>Trigeminal</a:t>
            </a:r>
          </a:p>
          <a:p>
            <a:pPr lvl="1"/>
            <a:r>
              <a:rPr lang="en-US" altLang="en-US" smtClean="0"/>
              <a:t>Facial</a:t>
            </a:r>
          </a:p>
        </p:txBody>
      </p:sp>
      <p:pic>
        <p:nvPicPr>
          <p:cNvPr id="73732" name="Picture 4" descr="\\10.1.1.17\productions\ART\ART PROCESS\PPT Projects\Caroline_ITK_164887\Final PPT files\Batch 15\Batch 15\9781284137200_CH19_FIGF1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447800"/>
            <a:ext cx="4600575" cy="401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4"/>
          <p:cNvSpPr>
            <a:spLocks noChangeArrowheads="1"/>
          </p:cNvSpPr>
          <p:nvPr/>
        </p:nvSpPr>
        <p:spPr bwMode="auto">
          <a:xfrm>
            <a:off x="4408488" y="5481638"/>
            <a:ext cx="14446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994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Neck</a:t>
            </a:r>
          </a:p>
        </p:txBody>
      </p:sp>
      <p:sp>
        <p:nvSpPr>
          <p:cNvPr id="7475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4114800" cy="4953000"/>
          </a:xfrm>
        </p:spPr>
        <p:txBody>
          <a:bodyPr/>
          <a:lstStyle/>
          <a:p>
            <a:r>
              <a:rPr lang="en-US" altLang="en-US" smtClean="0"/>
              <a:t>Anterior part of the neck includes:</a:t>
            </a:r>
          </a:p>
          <a:p>
            <a:pPr lvl="1"/>
            <a:r>
              <a:rPr lang="en-US" altLang="en-US" smtClean="0"/>
              <a:t>Thyroid and cricoid cartilage</a:t>
            </a:r>
          </a:p>
          <a:p>
            <a:pPr lvl="1"/>
            <a:r>
              <a:rPr lang="en-US" altLang="en-US" smtClean="0"/>
              <a:t>Trachea</a:t>
            </a:r>
          </a:p>
          <a:p>
            <a:pPr lvl="1"/>
            <a:r>
              <a:rPr lang="en-US" altLang="en-US" smtClean="0"/>
              <a:t>Muscles and nerves</a:t>
            </a:r>
          </a:p>
        </p:txBody>
      </p:sp>
      <p:pic>
        <p:nvPicPr>
          <p:cNvPr id="74756" name="Picture 4" descr="\\10.1.1.17\productions\ART\ART PROCESS\PPT Projects\Caroline_ITK_164887\Final PPT files\Batch 15\Batch 15\9781284137200_CH19_FIGF1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1778000"/>
            <a:ext cx="441642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7" name="Rectangle 4"/>
          <p:cNvSpPr>
            <a:spLocks noChangeArrowheads="1"/>
          </p:cNvSpPr>
          <p:nvPr/>
        </p:nvSpPr>
        <p:spPr bwMode="auto">
          <a:xfrm>
            <a:off x="4598988" y="5391150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19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The Neck</a:t>
            </a:r>
          </a:p>
        </p:txBody>
      </p:sp>
      <p:sp>
        <p:nvSpPr>
          <p:cNvPr id="75779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47800"/>
            <a:ext cx="3962400" cy="4953000"/>
          </a:xfrm>
        </p:spPr>
        <p:txBody>
          <a:bodyPr/>
          <a:lstStyle/>
          <a:p>
            <a:r>
              <a:rPr lang="en-US" altLang="en-US" smtClean="0"/>
              <a:t>Major blood vessels</a:t>
            </a:r>
          </a:p>
          <a:p>
            <a:pPr lvl="1"/>
            <a:r>
              <a:rPr lang="en-US" altLang="en-US" smtClean="0"/>
              <a:t>Internal and external carotid arteries</a:t>
            </a:r>
          </a:p>
          <a:p>
            <a:pPr lvl="1"/>
            <a:r>
              <a:rPr lang="en-US" altLang="en-US" smtClean="0"/>
              <a:t>Internal and external jugular veins</a:t>
            </a:r>
          </a:p>
        </p:txBody>
      </p:sp>
      <p:pic>
        <p:nvPicPr>
          <p:cNvPr id="75780" name="Picture 4" descr="\\10.1.1.17\productions\ART\ART PROCESS\PPT Projects\Caroline_ITK_164887\Final PPT files\Batch 15\Batch 15\9781284137200_CH19_FIGF1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013" y="1673225"/>
            <a:ext cx="4446587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ctangle 4"/>
          <p:cNvSpPr>
            <a:spLocks noChangeArrowheads="1"/>
          </p:cNvSpPr>
          <p:nvPr/>
        </p:nvSpPr>
        <p:spPr bwMode="auto">
          <a:xfrm>
            <a:off x="4564063" y="5902325"/>
            <a:ext cx="144462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The Neck</a:t>
            </a:r>
            <a:endParaRPr lang="en-US" dirty="0"/>
          </a:p>
        </p:txBody>
      </p:sp>
      <p:pic>
        <p:nvPicPr>
          <p:cNvPr id="76803" name="Picture 3" descr="\\10.1.1.17\productions\ART\ART PROCESS\PPT Projects\Caroline_ITK_164887\Final PPT files\Batch 15\Batch 15\9781284137200_CH19_FIGF1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447800"/>
            <a:ext cx="7646988" cy="473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4" name="Rectangle 3"/>
          <p:cNvSpPr>
            <a:spLocks noChangeArrowheads="1"/>
          </p:cNvSpPr>
          <p:nvPr/>
        </p:nvSpPr>
        <p:spPr bwMode="auto">
          <a:xfrm>
            <a:off x="838200" y="6202363"/>
            <a:ext cx="14446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403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Patient Assessment</a:t>
            </a:r>
          </a:p>
        </p:txBody>
      </p:sp>
      <p:sp>
        <p:nvSpPr>
          <p:cNvPr id="778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Swallowing abnormalities require a position to allow drainage. </a:t>
            </a:r>
          </a:p>
          <a:p>
            <a:pPr lvl="1"/>
            <a:r>
              <a:rPr lang="en-US" altLang="en-US" smtClean="0"/>
              <a:t>Lateral recumbent or recovery position</a:t>
            </a:r>
          </a:p>
          <a:p>
            <a:r>
              <a:rPr lang="en-US" altLang="en-US" smtClean="0"/>
              <a:t>Assessments should consider epiglottitis if there are symptoms of: </a:t>
            </a:r>
          </a:p>
          <a:p>
            <a:pPr lvl="1"/>
            <a:r>
              <a:rPr lang="en-US" altLang="en-US" smtClean="0"/>
              <a:t>Sore throat</a:t>
            </a:r>
          </a:p>
          <a:p>
            <a:pPr lvl="1"/>
            <a:r>
              <a:rPr lang="en-US" altLang="en-US" smtClean="0"/>
              <a:t>Drooling</a:t>
            </a:r>
          </a:p>
          <a:p>
            <a:pPr lvl="1"/>
            <a:r>
              <a:rPr lang="en-US" altLang="en-US" smtClean="0"/>
              <a:t>A forward-hanging head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608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Dentalgia and Dental Abscess</a:t>
            </a:r>
          </a:p>
        </p:txBody>
      </p:sp>
      <p:sp>
        <p:nvSpPr>
          <p:cNvPr id="78851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Dentalgia: toothache</a:t>
            </a:r>
          </a:p>
          <a:p>
            <a:r>
              <a:rPr lang="en-US" altLang="en-US" smtClean="0"/>
              <a:t>Dental abscess</a:t>
            </a:r>
          </a:p>
          <a:p>
            <a:pPr lvl="1"/>
            <a:r>
              <a:rPr lang="en-US" altLang="en-US" smtClean="0"/>
              <a:t>Bacteria growth spreads into the gums, facial tissue, bones, and/or neck</a:t>
            </a:r>
          </a:p>
        </p:txBody>
      </p:sp>
      <p:sp>
        <p:nvSpPr>
          <p:cNvPr id="9646086" name="Rectangle 6"/>
          <p:cNvSpPr>
            <a:spLocks noChangeArrowheads="1"/>
          </p:cNvSpPr>
          <p:nvPr/>
        </p:nvSpPr>
        <p:spPr bwMode="auto">
          <a:xfrm>
            <a:off x="4724400" y="4749800"/>
            <a:ext cx="4267200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algn="r"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Dr. P. </a:t>
            </a:r>
            <a:r>
              <a:rPr lang="en-US" sz="900" dirty="0" err="1">
                <a:solidFill>
                  <a:schemeClr val="bg1"/>
                </a:solidFill>
              </a:rPr>
              <a:t>Marazzi</a:t>
            </a:r>
            <a:r>
              <a:rPr lang="en-US" sz="900" dirty="0">
                <a:solidFill>
                  <a:schemeClr val="bg1"/>
                </a:solidFill>
              </a:rPr>
              <a:t>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78853" name="Picture 5" descr="\\10.1.1.17\productions\ART\ART PROCESS\PPT Projects\Caroline_ITK_164887\Final PPT files\Batch 15\Batch 15\9781284137200_CH19_FIGF1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813" y="1889125"/>
            <a:ext cx="4268787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81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Dentalgia and Dental Abscess</a:t>
            </a:r>
          </a:p>
        </p:txBody>
      </p:sp>
      <p:sp>
        <p:nvSpPr>
          <p:cNvPr id="798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Infection may become systemic.</a:t>
            </a:r>
          </a:p>
          <a:p>
            <a:pPr lvl="1"/>
            <a:r>
              <a:rPr lang="en-US" altLang="en-US" smtClean="0"/>
              <a:t>An abscess in the throat, neck, or under the tongue can affect the patient’s ability to breathe.</a:t>
            </a:r>
          </a:p>
          <a:p>
            <a:pPr lvl="1"/>
            <a:r>
              <a:rPr lang="en-US" altLang="en-US" smtClean="0"/>
              <a:t>Prehospital treatment is aimed at relieving symptoms.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01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Diseases of Oral Soft Tissue</a:t>
            </a:r>
          </a:p>
        </p:txBody>
      </p:sp>
      <p:sp>
        <p:nvSpPr>
          <p:cNvPr id="80899" name="Rectangle 5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smtClean="0"/>
              <a:t>Can be the root cause of other health problems</a:t>
            </a:r>
          </a:p>
        </p:txBody>
      </p:sp>
      <p:sp>
        <p:nvSpPr>
          <p:cNvPr id="80900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en-US" smtClean="0"/>
              <a:t>Include:</a:t>
            </a:r>
          </a:p>
          <a:p>
            <a:pPr lvl="1"/>
            <a:r>
              <a:rPr lang="en-US" altLang="en-US" smtClean="0"/>
              <a:t>Cold sores</a:t>
            </a:r>
          </a:p>
          <a:p>
            <a:pPr lvl="1"/>
            <a:r>
              <a:rPr lang="en-US" altLang="en-US" smtClean="0"/>
              <a:t>Canker sores</a:t>
            </a:r>
          </a:p>
          <a:p>
            <a:pPr lvl="1"/>
            <a:r>
              <a:rPr lang="en-US" altLang="en-US" smtClean="0"/>
              <a:t>Thrush</a:t>
            </a:r>
          </a:p>
          <a:p>
            <a:pPr lvl="1"/>
            <a:r>
              <a:rPr lang="en-US" altLang="en-US" smtClean="0"/>
              <a:t>Leukoplakia</a:t>
            </a:r>
          </a:p>
          <a:p>
            <a:pPr lvl="1"/>
            <a:r>
              <a:rPr lang="en-US" altLang="en-US" smtClean="0"/>
              <a:t>Gingivitis</a:t>
            </a:r>
          </a:p>
          <a:p>
            <a:pPr lvl="1"/>
            <a:r>
              <a:rPr lang="en-US" altLang="en-US" smtClean="0"/>
              <a:t>Bad breath</a:t>
            </a:r>
          </a:p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22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Diseases of Oral Soft Tissue</a:t>
            </a:r>
          </a:p>
        </p:txBody>
      </p:sp>
      <p:sp>
        <p:nvSpPr>
          <p:cNvPr id="8192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Rule out urticaria and allergic reactions.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427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Oral Candidiasis (Thrush)</a:t>
            </a:r>
          </a:p>
        </p:txBody>
      </p:sp>
      <p:sp>
        <p:nvSpPr>
          <p:cNvPr id="82947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i="1" smtClean="0"/>
              <a:t>Candida albicans</a:t>
            </a:r>
            <a:r>
              <a:rPr lang="en-US" altLang="en-US" smtClean="0"/>
              <a:t> accumulates on the lining of the mouth.</a:t>
            </a:r>
          </a:p>
          <a:p>
            <a:r>
              <a:rPr lang="en-US" altLang="en-US" smtClean="0"/>
              <a:t>The patient will have creamy white lesions.</a:t>
            </a:r>
          </a:p>
          <a:p>
            <a:pPr lvl="1"/>
            <a:r>
              <a:rPr lang="en-US" altLang="en-US" smtClean="0"/>
              <a:t>May be painful and bleed if scraped</a:t>
            </a:r>
          </a:p>
        </p:txBody>
      </p:sp>
      <p:sp>
        <p:nvSpPr>
          <p:cNvPr id="9654278" name="Rectangle 6"/>
          <p:cNvSpPr>
            <a:spLocks noChangeArrowheads="1"/>
          </p:cNvSpPr>
          <p:nvPr/>
        </p:nvSpPr>
        <p:spPr bwMode="auto">
          <a:xfrm>
            <a:off x="4981575" y="6192838"/>
            <a:ext cx="3581400" cy="13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</a:t>
            </a:r>
            <a:r>
              <a:rPr lang="en-US" sz="900" dirty="0" err="1">
                <a:solidFill>
                  <a:schemeClr val="bg1"/>
                </a:solidFill>
              </a:rPr>
              <a:t>Biophoto</a:t>
            </a:r>
            <a:r>
              <a:rPr lang="en-US" sz="900" dirty="0">
                <a:solidFill>
                  <a:schemeClr val="bg1"/>
                </a:solidFill>
              </a:rPr>
              <a:t> Associates/Photo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82949" name="Picture 6" descr="\\10.1.1.17\productions\ART\ART PROCESS\PPT Projects\Caroline_ITK_164887\Final PPT files\Batch 15\Batch 15\9781284137200_CH19_FIGF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0463" y="1295400"/>
            <a:ext cx="3703637" cy="48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Oral Candidiasis (Thrush)</a:t>
            </a:r>
          </a:p>
        </p:txBody>
      </p:sp>
      <p:sp>
        <p:nvSpPr>
          <p:cNvPr id="8397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Most likely to be found in:</a:t>
            </a:r>
          </a:p>
          <a:p>
            <a:pPr lvl="2"/>
            <a:r>
              <a:rPr lang="en-US" altLang="en-US" sz="2200" smtClean="0"/>
              <a:t>Babies</a:t>
            </a:r>
          </a:p>
          <a:p>
            <a:pPr lvl="2"/>
            <a:r>
              <a:rPr lang="en-US" altLang="en-US" sz="2200" smtClean="0"/>
              <a:t>Patients with compromised immune systems</a:t>
            </a:r>
          </a:p>
          <a:p>
            <a:pPr lvl="2"/>
            <a:r>
              <a:rPr lang="en-US" altLang="en-US" sz="2200" smtClean="0"/>
              <a:t>Patients who wear dentures</a:t>
            </a:r>
          </a:p>
          <a:p>
            <a:pPr lvl="2"/>
            <a:r>
              <a:rPr lang="en-US" altLang="en-US" sz="2200" smtClean="0"/>
              <a:t>Patients who use inhaled corticosteroids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83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Oral Candidiasis (Thrush)</a:t>
            </a:r>
          </a:p>
        </p:txBody>
      </p:sp>
      <p:sp>
        <p:nvSpPr>
          <p:cNvPr id="8499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 (cont</a:t>
            </a:r>
            <a:r>
              <a:rPr lang="fr-FR" altLang="ja-JP" smtClean="0"/>
              <a:t>’</a:t>
            </a:r>
            <a:r>
              <a:rPr lang="en-US" altLang="ja-JP" smtClean="0"/>
              <a:t>d)</a:t>
            </a:r>
          </a:p>
          <a:p>
            <a:pPr lvl="1"/>
            <a:r>
              <a:rPr lang="en-US" altLang="en-US" smtClean="0"/>
              <a:t>Additional symptoms may include:</a:t>
            </a:r>
          </a:p>
          <a:p>
            <a:pPr lvl="2"/>
            <a:r>
              <a:rPr lang="en-US" altLang="en-US" sz="2200" smtClean="0"/>
              <a:t>Cracking and redness at the corners of the mouth</a:t>
            </a:r>
          </a:p>
          <a:p>
            <a:pPr lvl="2"/>
            <a:r>
              <a:rPr lang="en-US" altLang="ja-JP" sz="2200" smtClean="0"/>
              <a:t>Cottony feeling in the mouth</a:t>
            </a:r>
          </a:p>
          <a:p>
            <a:pPr lvl="2"/>
            <a:r>
              <a:rPr lang="en-US" altLang="en-US" sz="2200" smtClean="0"/>
              <a:t>Sensation of food stuck in the throat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04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Oral Candidiasis (Thrush)</a:t>
            </a:r>
          </a:p>
        </p:txBody>
      </p:sp>
      <p:sp>
        <p:nvSpPr>
          <p:cNvPr id="8601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 (cont</a:t>
            </a:r>
            <a:r>
              <a:rPr lang="fr-FR" altLang="ja-JP" smtClean="0"/>
              <a:t>’</a:t>
            </a:r>
            <a:r>
              <a:rPr lang="en-US" altLang="ja-JP" smtClean="0"/>
              <a:t>d)</a:t>
            </a:r>
          </a:p>
          <a:p>
            <a:pPr lvl="1"/>
            <a:r>
              <a:rPr lang="en-US" altLang="en-US" smtClean="0"/>
              <a:t>Patients at increased risk include those with:</a:t>
            </a:r>
          </a:p>
          <a:p>
            <a:pPr lvl="2"/>
            <a:r>
              <a:rPr lang="en-US" altLang="en-US" sz="2200" smtClean="0"/>
              <a:t>HIV/AIDS</a:t>
            </a:r>
          </a:p>
          <a:p>
            <a:pPr lvl="2"/>
            <a:r>
              <a:rPr lang="en-US" altLang="en-US" sz="2200" smtClean="0"/>
              <a:t>Cancer</a:t>
            </a:r>
          </a:p>
          <a:p>
            <a:pPr lvl="2"/>
            <a:r>
              <a:rPr lang="en-US" altLang="en-US" sz="2200" smtClean="0"/>
              <a:t>Diabetes</a:t>
            </a:r>
          </a:p>
          <a:p>
            <a:pPr lvl="2"/>
            <a:r>
              <a:rPr lang="en-US" altLang="en-US" sz="2200" smtClean="0"/>
              <a:t>Vaginal yeast infections</a:t>
            </a:r>
          </a:p>
          <a:p>
            <a:pPr lvl="1"/>
            <a:r>
              <a:rPr lang="en-US" altLang="en-US" smtClean="0"/>
              <a:t>Treat higher priorities.</a:t>
            </a:r>
          </a:p>
          <a:p>
            <a:pPr lvl="1"/>
            <a:r>
              <a:rPr lang="en-US" altLang="en-US" smtClean="0"/>
              <a:t>Make the patient comfortable.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24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Ludwig Angina</a:t>
            </a:r>
          </a:p>
        </p:txBody>
      </p:sp>
      <p:sp>
        <p:nvSpPr>
          <p:cNvPr id="8704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Ludwig angina is a type of cellulitis caused by bacteria from an infected tooth root or mouth injury.</a:t>
            </a:r>
          </a:p>
          <a:p>
            <a:pPr lvl="1"/>
            <a:r>
              <a:rPr lang="en-US" altLang="en-US" smtClean="0"/>
              <a:t>Occurs under the tongue</a:t>
            </a:r>
          </a:p>
          <a:p>
            <a:r>
              <a:rPr lang="en-US" altLang="en-US" smtClean="0"/>
              <a:t>A physical exam may show redness and swelling of the neck or under the chin.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45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Ludwig Angina</a:t>
            </a:r>
          </a:p>
        </p:txBody>
      </p:sp>
      <p:sp>
        <p:nvSpPr>
          <p:cNvPr id="8806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Symptoms may include:</a:t>
            </a:r>
          </a:p>
          <a:p>
            <a:pPr lvl="2"/>
            <a:r>
              <a:rPr lang="en-US" altLang="en-US" sz="2200" smtClean="0"/>
              <a:t>Difficulty breathing or swallowing</a:t>
            </a:r>
          </a:p>
          <a:p>
            <a:pPr lvl="2"/>
            <a:r>
              <a:rPr lang="en-US" altLang="en-US" sz="2200" smtClean="0"/>
              <a:t>Neck pain and swelling</a:t>
            </a:r>
          </a:p>
          <a:p>
            <a:pPr lvl="2"/>
            <a:r>
              <a:rPr lang="en-US" altLang="en-US" sz="2200" smtClean="0"/>
              <a:t>Fever</a:t>
            </a:r>
          </a:p>
          <a:p>
            <a:pPr lvl="2"/>
            <a:r>
              <a:rPr lang="en-US" altLang="en-US" sz="2200" smtClean="0"/>
              <a:t>Drooling</a:t>
            </a:r>
          </a:p>
          <a:p>
            <a:pPr lvl="2"/>
            <a:r>
              <a:rPr lang="en-US" altLang="en-US" sz="2200" smtClean="0"/>
              <a:t>Altered speech sounds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Ludwig Angina</a:t>
            </a:r>
          </a:p>
        </p:txBody>
      </p:sp>
      <p:sp>
        <p:nvSpPr>
          <p:cNvPr id="890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 (cont</a:t>
            </a:r>
            <a:r>
              <a:rPr lang="fr-FR" altLang="ja-JP" smtClean="0"/>
              <a:t>’</a:t>
            </a:r>
            <a:r>
              <a:rPr lang="en-US" altLang="ja-JP" smtClean="0"/>
              <a:t>d)</a:t>
            </a:r>
          </a:p>
          <a:p>
            <a:pPr lvl="1"/>
            <a:r>
              <a:rPr lang="en-US" altLang="en-US" smtClean="0"/>
              <a:t>Prehospital treatment requires aggressive management of the airway in severe cases.</a:t>
            </a:r>
          </a:p>
          <a:p>
            <a:pPr lvl="1"/>
            <a:r>
              <a:rPr lang="en-US" altLang="en-US" smtClean="0"/>
              <a:t>Contact medical control physician early on.</a:t>
            </a:r>
          </a:p>
          <a:p>
            <a:pPr lvl="1"/>
            <a:r>
              <a:rPr lang="en-US" altLang="en-US" smtClean="0"/>
              <a:t>Attend to basic ABCs.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06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Epiglottitis</a:t>
            </a:r>
          </a:p>
        </p:txBody>
      </p:sp>
      <p:sp>
        <p:nvSpPr>
          <p:cNvPr id="9011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Inflammation of the epiglottis</a:t>
            </a:r>
          </a:p>
          <a:p>
            <a:pPr lvl="1"/>
            <a:r>
              <a:rPr lang="en-US" altLang="en-US" smtClean="0"/>
              <a:t>Blocks the trachea and obstructs the airway</a:t>
            </a:r>
          </a:p>
          <a:p>
            <a:pPr lvl="1"/>
            <a:r>
              <a:rPr lang="en-US" altLang="en-US" smtClean="0"/>
              <a:t>Often result of the </a:t>
            </a:r>
            <a:r>
              <a:rPr lang="en-US" altLang="en-US" i="1" smtClean="0"/>
              <a:t>Haemophilus influenzae</a:t>
            </a:r>
            <a:r>
              <a:rPr lang="en-US" altLang="en-US" smtClean="0"/>
              <a:t> type b virus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Epiglottis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6172200" cy="63976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 smtClean="0"/>
              <a:t>Assessment and management</a:t>
            </a:r>
            <a:endParaRPr lang="en-US" sz="2800" b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981200"/>
            <a:ext cx="4040188" cy="3951288"/>
          </a:xfrm>
        </p:spPr>
        <p:txBody>
          <a:bodyPr/>
          <a:lstStyle/>
          <a:p>
            <a:pPr lvl="1"/>
            <a:r>
              <a:rPr lang="en-US" altLang="en-US" sz="2400" dirty="0"/>
              <a:t>Symptoms may include:</a:t>
            </a:r>
          </a:p>
          <a:p>
            <a:pPr lvl="2"/>
            <a:r>
              <a:rPr lang="en-US" altLang="en-US" sz="2200" dirty="0"/>
              <a:t>Fever</a:t>
            </a:r>
          </a:p>
          <a:p>
            <a:pPr lvl="2"/>
            <a:r>
              <a:rPr lang="en-US" altLang="en-US" sz="2200" dirty="0"/>
              <a:t>Sore throat</a:t>
            </a:r>
          </a:p>
          <a:p>
            <a:pPr lvl="2"/>
            <a:r>
              <a:rPr lang="en-US" altLang="en-US" sz="2200" dirty="0"/>
              <a:t>Painful swallowing</a:t>
            </a:r>
          </a:p>
          <a:p>
            <a:pPr lvl="2"/>
            <a:r>
              <a:rPr lang="en-US" altLang="en-US" sz="2200" dirty="0" smtClean="0"/>
              <a:t>Stridor</a:t>
            </a:r>
            <a:endParaRPr lang="en-US" altLang="en-US" sz="2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906000" y="1676400"/>
            <a:ext cx="152400" cy="639762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981200"/>
            <a:ext cx="4041775" cy="3951288"/>
          </a:xfrm>
        </p:spPr>
        <p:txBody>
          <a:bodyPr/>
          <a:lstStyle/>
          <a:p>
            <a:pPr lvl="1"/>
            <a:r>
              <a:rPr lang="en-US" altLang="en-US" sz="2400" dirty="0" smtClean="0"/>
              <a:t>Signs </a:t>
            </a:r>
            <a:r>
              <a:rPr lang="en-US" altLang="en-US" sz="2400" dirty="0"/>
              <a:t>may include:</a:t>
            </a:r>
          </a:p>
          <a:p>
            <a:pPr lvl="2"/>
            <a:r>
              <a:rPr lang="en-US" altLang="en-US" sz="2200" dirty="0"/>
              <a:t>Sick and anxious</a:t>
            </a:r>
          </a:p>
          <a:p>
            <a:pPr lvl="2"/>
            <a:r>
              <a:rPr lang="en-US" altLang="ja-JP" sz="2200" dirty="0"/>
              <a:t>Tripod position or sniffing position</a:t>
            </a:r>
          </a:p>
          <a:p>
            <a:pPr lvl="2"/>
            <a:r>
              <a:rPr lang="en-US" altLang="en-US" sz="2200" dirty="0"/>
              <a:t>Increased work of breathing</a:t>
            </a:r>
          </a:p>
          <a:p>
            <a:pPr lvl="2"/>
            <a:r>
              <a:rPr lang="en-US" altLang="en-US" sz="2200" dirty="0"/>
              <a:t>Pallor or cyanosis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12254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4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Epiglottitis</a:t>
            </a:r>
          </a:p>
        </p:txBody>
      </p:sp>
      <p:sp>
        <p:nvSpPr>
          <p:cNvPr id="9216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 (cont</a:t>
            </a:r>
            <a:r>
              <a:rPr lang="fr-FR" altLang="ja-JP" smtClean="0"/>
              <a:t>’</a:t>
            </a:r>
            <a:r>
              <a:rPr lang="en-US" altLang="ja-JP" smtClean="0"/>
              <a:t>d)</a:t>
            </a:r>
          </a:p>
          <a:p>
            <a:pPr lvl="1"/>
            <a:r>
              <a:rPr lang="en-US" altLang="en-US" smtClean="0"/>
              <a:t>Transport to an appropriate hospital.</a:t>
            </a:r>
          </a:p>
          <a:p>
            <a:pPr lvl="2"/>
            <a:r>
              <a:rPr lang="en-US" altLang="en-US" sz="2200" smtClean="0"/>
              <a:t>Minimize scene time.</a:t>
            </a:r>
          </a:p>
          <a:p>
            <a:pPr lvl="2"/>
            <a:r>
              <a:rPr lang="en-US" altLang="en-US" sz="2200" smtClean="0"/>
              <a:t>Do not agitate the patient.</a:t>
            </a:r>
          </a:p>
          <a:p>
            <a:pPr lvl="2"/>
            <a:r>
              <a:rPr lang="en-US" altLang="en-US" sz="2200" smtClean="0"/>
              <a:t>Do not attempt to look in the mouth.</a:t>
            </a:r>
          </a:p>
          <a:p>
            <a:pPr lvl="2"/>
            <a:r>
              <a:rPr lang="en-US" altLang="en-US" sz="2200" smtClean="0"/>
              <a:t>Alert receiving personnel.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Laryngitis</a:t>
            </a:r>
          </a:p>
        </p:txBody>
      </p:sp>
      <p:sp>
        <p:nvSpPr>
          <p:cNvPr id="931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Swelling and inflammation of the larynx </a:t>
            </a:r>
          </a:p>
          <a:p>
            <a:r>
              <a:rPr lang="en-US" altLang="en-US" smtClean="0"/>
              <a:t>Causes may include:</a:t>
            </a:r>
          </a:p>
          <a:p>
            <a:pPr lvl="1"/>
            <a:r>
              <a:rPr lang="en-US" altLang="en-US" smtClean="0"/>
              <a:t>Overuse</a:t>
            </a:r>
          </a:p>
          <a:p>
            <a:pPr lvl="1"/>
            <a:r>
              <a:rPr lang="en-US" altLang="en-US" smtClean="0"/>
              <a:t>Pneumonia</a:t>
            </a:r>
          </a:p>
          <a:p>
            <a:pPr lvl="1"/>
            <a:r>
              <a:rPr lang="en-US" altLang="en-US" smtClean="0"/>
              <a:t>Irritants and chemicals</a:t>
            </a:r>
          </a:p>
          <a:p>
            <a:pPr lvl="1"/>
            <a:r>
              <a:rPr lang="en-US" altLang="en-US" smtClean="0"/>
              <a:t>Bronchitis</a:t>
            </a:r>
          </a:p>
          <a:p>
            <a:pPr lvl="1"/>
            <a:r>
              <a:rPr lang="en-US" altLang="en-US" smtClean="0"/>
              <a:t>Allergies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88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Laryngitis</a:t>
            </a:r>
          </a:p>
        </p:txBody>
      </p:sp>
      <p:sp>
        <p:nvSpPr>
          <p:cNvPr id="9421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Symptoms include:</a:t>
            </a:r>
          </a:p>
          <a:p>
            <a:pPr lvl="2"/>
            <a:r>
              <a:rPr lang="en-US" altLang="en-US" sz="2200" smtClean="0"/>
              <a:t>Fever</a:t>
            </a:r>
          </a:p>
          <a:p>
            <a:pPr lvl="2"/>
            <a:r>
              <a:rPr lang="en-US" altLang="en-US" sz="2200" smtClean="0"/>
              <a:t>Hoarseness</a:t>
            </a:r>
          </a:p>
          <a:p>
            <a:pPr lvl="2"/>
            <a:r>
              <a:rPr lang="en-US" altLang="en-US" sz="2200" smtClean="0"/>
              <a:t>Swollen lymph nodes or glands</a:t>
            </a:r>
          </a:p>
          <a:p>
            <a:pPr lvl="1"/>
            <a:r>
              <a:rPr lang="en-US" altLang="en-US" smtClean="0"/>
              <a:t>Consider a fracture of the hyoid bone.</a:t>
            </a:r>
          </a:p>
          <a:p>
            <a:pPr lvl="1"/>
            <a:r>
              <a:rPr lang="en-US" altLang="en-US" smtClean="0"/>
              <a:t>Have the patient follow up with a physician.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09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Tracheitis</a:t>
            </a:r>
          </a:p>
        </p:txBody>
      </p:sp>
      <p:sp>
        <p:nvSpPr>
          <p:cNvPr id="9523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Bacterial infection of the trachea caused by </a:t>
            </a:r>
            <a:r>
              <a:rPr lang="en-US" altLang="en-US" i="1" smtClean="0"/>
              <a:t>Staphylococcus aureus</a:t>
            </a:r>
          </a:p>
          <a:p>
            <a:pPr lvl="1"/>
            <a:r>
              <a:rPr lang="en-US" altLang="en-US" smtClean="0"/>
              <a:t>Frequently occurs in children following upper respiratory infection</a:t>
            </a:r>
          </a:p>
          <a:p>
            <a:pPr lvl="1"/>
            <a:r>
              <a:rPr lang="en-US" altLang="en-US" smtClean="0"/>
              <a:t>Trachea easily blocked by swelling</a:t>
            </a:r>
          </a:p>
          <a:p>
            <a:pPr lvl="1"/>
            <a:r>
              <a:rPr lang="en-US" altLang="en-US" smtClean="0"/>
              <a:t>Can be life threatening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295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Tracheitis</a:t>
            </a:r>
          </a:p>
        </p:txBody>
      </p:sp>
      <p:sp>
        <p:nvSpPr>
          <p:cNvPr id="96259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Symptoms</a:t>
            </a:r>
          </a:p>
          <a:p>
            <a:pPr lvl="2"/>
            <a:r>
              <a:rPr lang="en-US" altLang="ja-JP" sz="2200" smtClean="0"/>
              <a:t>Croup-like cough</a:t>
            </a:r>
          </a:p>
          <a:p>
            <a:pPr lvl="2"/>
            <a:r>
              <a:rPr lang="en-US" altLang="en-US" sz="2200" smtClean="0"/>
              <a:t>Difficulty breathing</a:t>
            </a:r>
          </a:p>
          <a:p>
            <a:pPr lvl="2"/>
            <a:r>
              <a:rPr lang="en-US" altLang="en-US" sz="2200" smtClean="0"/>
              <a:t>High fever</a:t>
            </a:r>
          </a:p>
          <a:p>
            <a:pPr lvl="1"/>
            <a:r>
              <a:rPr lang="en-US" altLang="en-US" smtClean="0"/>
              <a:t>Signs</a:t>
            </a:r>
          </a:p>
          <a:p>
            <a:pPr lvl="2"/>
            <a:r>
              <a:rPr lang="en-US" altLang="en-US" sz="2200" smtClean="0"/>
              <a:t>Tripod positioning </a:t>
            </a:r>
          </a:p>
          <a:p>
            <a:pPr lvl="2"/>
            <a:r>
              <a:rPr lang="en-US" altLang="en-US" sz="2200" smtClean="0"/>
              <a:t>Intercostal retractions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49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Tracheitis</a:t>
            </a:r>
          </a:p>
        </p:txBody>
      </p:sp>
      <p:sp>
        <p:nvSpPr>
          <p:cNvPr id="9728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Prehospital care is supportive.</a:t>
            </a:r>
            <a:endParaRPr lang="en-US" altLang="ja-JP" smtClean="0"/>
          </a:p>
          <a:p>
            <a:pPr lvl="1"/>
            <a:r>
              <a:rPr lang="en-US" altLang="en-US" smtClean="0"/>
              <a:t>Minimize stress to the patient.</a:t>
            </a:r>
          </a:p>
          <a:p>
            <a:pPr lvl="1"/>
            <a:r>
              <a:rPr lang="en-US" altLang="en-US" smtClean="0"/>
              <a:t>Administer 100% oxygen.</a:t>
            </a:r>
          </a:p>
          <a:p>
            <a:pPr lvl="1"/>
            <a:r>
              <a:rPr lang="en-US" altLang="en-US" smtClean="0"/>
              <a:t>Use pulse oximetry.</a:t>
            </a:r>
          </a:p>
          <a:p>
            <a:pPr lvl="1"/>
            <a:r>
              <a:rPr lang="en-US" altLang="en-US" smtClean="0"/>
              <a:t>Monitor vital signs.</a:t>
            </a:r>
          </a:p>
          <a:p>
            <a:pPr lvl="1"/>
            <a:r>
              <a:rPr lang="en-US" altLang="en-US" smtClean="0"/>
              <a:t>Be prepared for difficult intubation.</a:t>
            </a:r>
          </a:p>
          <a:p>
            <a:pPr lvl="1"/>
            <a:r>
              <a:rPr lang="en-US" altLang="en-US" smtClean="0"/>
              <a:t>Transport promptly.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704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Tonsillitis</a:t>
            </a:r>
          </a:p>
        </p:txBody>
      </p:sp>
      <p:sp>
        <p:nvSpPr>
          <p:cNvPr id="98307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Swelling and inflammation of  tonsils</a:t>
            </a:r>
          </a:p>
          <a:p>
            <a:r>
              <a:rPr lang="en-US" altLang="en-US" smtClean="0"/>
              <a:t>Usually caused by viral infections</a:t>
            </a:r>
          </a:p>
          <a:p>
            <a:pPr lvl="1"/>
            <a:r>
              <a:rPr lang="en-US" altLang="en-US" smtClean="0"/>
              <a:t>Can also be caused by bacteria</a:t>
            </a:r>
          </a:p>
        </p:txBody>
      </p:sp>
      <p:sp>
        <p:nvSpPr>
          <p:cNvPr id="9687046" name="Rectangle 6"/>
          <p:cNvSpPr>
            <a:spLocks noChangeArrowheads="1"/>
          </p:cNvSpPr>
          <p:nvPr/>
        </p:nvSpPr>
        <p:spPr bwMode="auto">
          <a:xfrm>
            <a:off x="4648200" y="4822825"/>
            <a:ext cx="4343400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algn="r"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</a:t>
            </a:r>
            <a:r>
              <a:rPr lang="en-US" sz="900" dirty="0" err="1">
                <a:solidFill>
                  <a:schemeClr val="bg1"/>
                </a:solidFill>
              </a:rPr>
              <a:t>Biophoto</a:t>
            </a:r>
            <a:r>
              <a:rPr lang="en-US" sz="900" dirty="0">
                <a:solidFill>
                  <a:schemeClr val="bg1"/>
                </a:solidFill>
              </a:rPr>
              <a:t> Associates/Photo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98309" name="Picture 6" descr="\\10.1.1.17\productions\ART\ART PROCESS\PPT Projects\Caroline_ITK_164887\Final PPT files\Batch 15\Batch 15\9781284137200_CH19_FIGF2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1822450"/>
            <a:ext cx="4418012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ヒラギノ角ゴ Pro W3" charset="0"/>
              </a:rPr>
              <a:t>Tonsillitis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46238"/>
            <a:ext cx="7620000" cy="63976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0" dirty="0" smtClean="0"/>
              <a:t>Assessment and management</a:t>
            </a:r>
            <a:endParaRPr lang="en-US" sz="2800" b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44712"/>
            <a:ext cx="4040188" cy="3951288"/>
          </a:xfrm>
        </p:spPr>
        <p:txBody>
          <a:bodyPr/>
          <a:lstStyle/>
          <a:p>
            <a:pPr lvl="1"/>
            <a:r>
              <a:rPr lang="en-US" altLang="en-US" sz="2400" dirty="0"/>
              <a:t>Symptoms:</a:t>
            </a:r>
          </a:p>
          <a:p>
            <a:pPr lvl="2"/>
            <a:r>
              <a:rPr lang="en-US" altLang="en-US" sz="2200" dirty="0"/>
              <a:t>Swollen tonsils</a:t>
            </a:r>
          </a:p>
          <a:p>
            <a:pPr lvl="2"/>
            <a:r>
              <a:rPr lang="en-US" altLang="en-US" sz="2200" dirty="0"/>
              <a:t>Sore throat</a:t>
            </a:r>
          </a:p>
          <a:p>
            <a:pPr lvl="2"/>
            <a:r>
              <a:rPr lang="en-US" altLang="en-US" sz="2200" dirty="0"/>
              <a:t>Difficulty </a:t>
            </a:r>
            <a:r>
              <a:rPr lang="en-US" altLang="en-US" sz="2200" dirty="0" smtClean="0"/>
              <a:t>swallowing</a:t>
            </a:r>
            <a:endParaRPr lang="en-US" altLang="en-US" sz="22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48800" y="1676400"/>
            <a:ext cx="152400" cy="639762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33600"/>
            <a:ext cx="4041775" cy="3951288"/>
          </a:xfrm>
        </p:spPr>
        <p:txBody>
          <a:bodyPr/>
          <a:lstStyle/>
          <a:p>
            <a:pPr lvl="1"/>
            <a:r>
              <a:rPr lang="en-US" altLang="en-US" sz="2400" dirty="0"/>
              <a:t>Signs:</a:t>
            </a:r>
          </a:p>
          <a:p>
            <a:pPr lvl="2"/>
            <a:r>
              <a:rPr lang="en-US" altLang="en-US" sz="2200" dirty="0"/>
              <a:t>Red, swollen tonsils</a:t>
            </a:r>
          </a:p>
          <a:p>
            <a:pPr lvl="2"/>
            <a:r>
              <a:rPr lang="en-US" altLang="en-US" sz="2200" dirty="0"/>
              <a:t>White or yellow coating or patches </a:t>
            </a:r>
          </a:p>
          <a:p>
            <a:pPr lvl="2"/>
            <a:r>
              <a:rPr lang="en-US" altLang="en-US" sz="2200" dirty="0"/>
              <a:t>Fever</a:t>
            </a:r>
          </a:p>
          <a:p>
            <a:pPr lvl="2"/>
            <a:r>
              <a:rPr lang="en-US" altLang="en-US" sz="2200" dirty="0"/>
              <a:t>Sore </a:t>
            </a:r>
            <a:r>
              <a:rPr lang="en-US" altLang="en-US" sz="2200" dirty="0" smtClean="0"/>
              <a:t>throat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26338135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114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Pharyngitis</a:t>
            </a:r>
          </a:p>
        </p:txBody>
      </p:sp>
      <p:sp>
        <p:nvSpPr>
          <p:cNvPr id="100355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962400" cy="4953000"/>
          </a:xfrm>
        </p:spPr>
        <p:txBody>
          <a:bodyPr/>
          <a:lstStyle/>
          <a:p>
            <a:r>
              <a:rPr lang="en-US" altLang="en-US" smtClean="0"/>
              <a:t>Inflammation of the pharynx</a:t>
            </a:r>
          </a:p>
          <a:p>
            <a:r>
              <a:rPr lang="en-US" altLang="en-US" smtClean="0"/>
              <a:t>Often due to a rapid onset of sore throat </a:t>
            </a:r>
          </a:p>
          <a:p>
            <a:pPr lvl="1"/>
            <a:r>
              <a:rPr lang="en-US" altLang="en-US" smtClean="0"/>
              <a:t>No discomfort or pain with swallowing</a:t>
            </a:r>
          </a:p>
        </p:txBody>
      </p:sp>
      <p:pic>
        <p:nvPicPr>
          <p:cNvPr id="100356" name="Picture 5" descr="\\10.1.1.17\productions\ART\ART PROCESS\PPT Projects\Caroline_ITK_164887\Final PPT files\Batch 15\Batch 15\9781284137200_CH19_FIGF2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88" y="1752600"/>
            <a:ext cx="4354512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4648200" y="4659313"/>
            <a:ext cx="4343400" cy="13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algn="r" eaLnBrk="1" hangingPunct="1">
              <a:defRPr/>
            </a:pPr>
            <a:r>
              <a:rPr lang="en-US" sz="900" dirty="0">
                <a:solidFill>
                  <a:schemeClr val="bg1"/>
                </a:solidFill>
              </a:rPr>
              <a:t>© BSIP/Photo Researchers, Inc.</a:t>
            </a:r>
            <a:endParaRPr lang="en-US" altLang="en-US" sz="900" dirty="0" smtClean="0">
              <a:solidFill>
                <a:schemeClr val="bg1"/>
              </a:solidFill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3191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Pharyngitis</a:t>
            </a:r>
          </a:p>
        </p:txBody>
      </p:sp>
      <p:sp>
        <p:nvSpPr>
          <p:cNvPr id="101379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Assessment and management</a:t>
            </a:r>
          </a:p>
          <a:p>
            <a:pPr lvl="1"/>
            <a:r>
              <a:rPr lang="en-US" altLang="en-US" dirty="0" smtClean="0"/>
              <a:t>Symptoms may include:</a:t>
            </a:r>
          </a:p>
          <a:p>
            <a:pPr lvl="2"/>
            <a:r>
              <a:rPr lang="en-US" altLang="en-US" sz="2200" dirty="0" smtClean="0"/>
              <a:t>Fever, headache</a:t>
            </a:r>
          </a:p>
          <a:p>
            <a:pPr lvl="2"/>
            <a:r>
              <a:rPr lang="en-US" altLang="en-US" sz="2200" dirty="0" smtClean="0"/>
              <a:t>Pharyngeal erythema</a:t>
            </a:r>
          </a:p>
          <a:p>
            <a:pPr lvl="2"/>
            <a:r>
              <a:rPr lang="en-US" altLang="en-US" sz="2200" dirty="0" smtClean="0"/>
              <a:t>Purulent, patchy yellow, gray, or white exudate</a:t>
            </a:r>
          </a:p>
          <a:p>
            <a:pPr lvl="2"/>
            <a:r>
              <a:rPr lang="en-US" altLang="en-US" sz="2200" dirty="0" smtClean="0"/>
              <a:t>Ulcers on the soft </a:t>
            </a:r>
            <a:r>
              <a:rPr lang="en-US" altLang="en-US" sz="2200" dirty="0" smtClean="0"/>
              <a:t>palate</a:t>
            </a:r>
          </a:p>
          <a:p>
            <a:pPr lvl="1"/>
            <a:r>
              <a:rPr lang="en-US" altLang="en-US" sz="2500" dirty="0" smtClean="0"/>
              <a:t>Follow-up with the emergency department</a:t>
            </a:r>
            <a:endParaRPr lang="en-US" altLang="en-US" sz="2500" dirty="0" smtClean="0"/>
          </a:p>
          <a:p>
            <a:pPr lvl="2"/>
            <a:endParaRPr lang="en-US" altLang="en-US" sz="1900" dirty="0" smtClean="0"/>
          </a:p>
          <a:p>
            <a:pPr lvl="2"/>
            <a:endParaRPr lang="en-US" altLang="en-US" sz="19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52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Peritonsillar Abscess</a:t>
            </a:r>
          </a:p>
        </p:txBody>
      </p:sp>
      <p:sp>
        <p:nvSpPr>
          <p:cNvPr id="10240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Collection of infected material around the tonsils</a:t>
            </a:r>
          </a:p>
          <a:p>
            <a:r>
              <a:rPr lang="en-US" altLang="en-US" smtClean="0"/>
              <a:t>Complication of tonsillitis</a:t>
            </a:r>
          </a:p>
        </p:txBody>
      </p:sp>
      <p:sp>
        <p:nvSpPr>
          <p:cNvPr id="9695238" name="Rectangle 6"/>
          <p:cNvSpPr>
            <a:spLocks noChangeArrowheads="1"/>
          </p:cNvSpPr>
          <p:nvPr/>
        </p:nvSpPr>
        <p:spPr bwMode="auto">
          <a:xfrm>
            <a:off x="4497388" y="4779963"/>
            <a:ext cx="3886200" cy="13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 smtClean="0">
                <a:solidFill>
                  <a:schemeClr val="bg1"/>
                </a:solidFill>
                <a:cs typeface="Arial" pitchFamily="34" charset="0"/>
              </a:rPr>
              <a:t>© Dr. P. Marazzi/Photo Researchers, Inc.</a:t>
            </a:r>
          </a:p>
        </p:txBody>
      </p:sp>
      <p:pic>
        <p:nvPicPr>
          <p:cNvPr id="102405" name="Picture 6" descr="\\10.1.1.17\productions\ART\ART PROCESS\PPT Projects\Caroline_ITK_164887\Final PPT files\Batch 15\Batch 15\9781284137200_CH19_FIGF2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388" y="1600200"/>
            <a:ext cx="4418012" cy="315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728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Peritonsillar Abscess</a:t>
            </a:r>
          </a:p>
        </p:txBody>
      </p:sp>
      <p:sp>
        <p:nvSpPr>
          <p:cNvPr id="1034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Assessment and management</a:t>
            </a:r>
          </a:p>
          <a:p>
            <a:pPr lvl="1"/>
            <a:r>
              <a:rPr lang="en-US" altLang="en-US" smtClean="0"/>
              <a:t>One or both tonsils are infected.</a:t>
            </a:r>
          </a:p>
          <a:p>
            <a:pPr lvl="1"/>
            <a:r>
              <a:rPr lang="en-US" altLang="en-US" smtClean="0"/>
              <a:t>Symptoms include the following:</a:t>
            </a:r>
          </a:p>
          <a:p>
            <a:pPr lvl="2"/>
            <a:r>
              <a:rPr lang="en-US" altLang="en-US" sz="2200" smtClean="0"/>
              <a:t>Difficulty and pain opening the mouth</a:t>
            </a:r>
          </a:p>
          <a:p>
            <a:pPr lvl="2"/>
            <a:r>
              <a:rPr lang="en-US" altLang="en-US" sz="2200" smtClean="0"/>
              <a:t>Facial swelling</a:t>
            </a:r>
          </a:p>
          <a:p>
            <a:pPr lvl="2"/>
            <a:r>
              <a:rPr lang="en-US" altLang="en-US" sz="2200" smtClean="0"/>
              <a:t>Inability to swallow</a:t>
            </a:r>
          </a:p>
          <a:p>
            <a:pPr lvl="2"/>
            <a:r>
              <a:rPr lang="en-US" altLang="en-US" sz="2200" smtClean="0"/>
              <a:t>Tender glands of the jaw and throat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933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Peritonsillar Abscess</a:t>
            </a:r>
          </a:p>
        </p:txBody>
      </p:sp>
      <p:sp>
        <p:nvSpPr>
          <p:cNvPr id="1044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mtClean="0"/>
              <a:t>Treatment involves antibiotics and draining the abscess.</a:t>
            </a:r>
          </a:p>
          <a:p>
            <a:pPr lvl="1"/>
            <a:r>
              <a:rPr lang="en-US" altLang="en-US" smtClean="0"/>
              <a:t>Treatment may include tonsillectomy.</a:t>
            </a:r>
          </a:p>
          <a:p>
            <a:pPr lvl="1"/>
            <a:r>
              <a:rPr lang="en-US" altLang="en-US" smtClean="0"/>
              <a:t>Transport the patient to the hospital.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138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Temporomandibular Joint Disorders</a:t>
            </a:r>
          </a:p>
        </p:txBody>
      </p:sp>
      <p:sp>
        <p:nvSpPr>
          <p:cNvPr id="10547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3886200" cy="4953000"/>
          </a:xfrm>
        </p:spPr>
        <p:txBody>
          <a:bodyPr/>
          <a:lstStyle/>
          <a:p>
            <a:r>
              <a:rPr lang="en-US" altLang="en-US" smtClean="0"/>
              <a:t>Causes include:</a:t>
            </a:r>
          </a:p>
          <a:p>
            <a:pPr lvl="1"/>
            <a:r>
              <a:rPr lang="en-US" altLang="en-US" smtClean="0"/>
              <a:t>Arthritis damage to the joint</a:t>
            </a:r>
            <a:r>
              <a:rPr lang="fr-FR" altLang="ja-JP" smtClean="0"/>
              <a:t>’</a:t>
            </a:r>
            <a:r>
              <a:rPr lang="en-US" altLang="ja-JP" smtClean="0"/>
              <a:t>s cartilage</a:t>
            </a:r>
          </a:p>
          <a:p>
            <a:pPr lvl="1"/>
            <a:r>
              <a:rPr lang="en-US" altLang="en-US" smtClean="0"/>
              <a:t>Jaw injury</a:t>
            </a:r>
          </a:p>
          <a:p>
            <a:pPr lvl="1"/>
            <a:r>
              <a:rPr lang="en-US" altLang="en-US" smtClean="0"/>
              <a:t>Jaw muscle fatigue from grinding or clenching of the teeth</a:t>
            </a:r>
          </a:p>
        </p:txBody>
      </p:sp>
      <p:pic>
        <p:nvPicPr>
          <p:cNvPr id="105476" name="Picture 5" descr="\\10.1.1.17\productions\ART\ART PROCESS\PPT Projects\Caroline_ITK_164887\Final PPT files\Batch 15\Batch 15\9781284137200_CH19_FIGF2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0100" y="1828800"/>
            <a:ext cx="4398963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77" name="Rectangle 1"/>
          <p:cNvSpPr>
            <a:spLocks noChangeArrowheads="1"/>
          </p:cNvSpPr>
          <p:nvPr/>
        </p:nvSpPr>
        <p:spPr bwMode="auto">
          <a:xfrm>
            <a:off x="4610100" y="5051425"/>
            <a:ext cx="1444625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50000"/>
              </a:spcBef>
              <a:buChar char="•"/>
              <a:defRPr sz="28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1pPr>
            <a:lvl2pPr marL="742950" indent="-285750">
              <a:spcBef>
                <a:spcPct val="25000"/>
              </a:spcBef>
              <a:buFont typeface="Lucida Grande" pitchFamily="34" charset="0"/>
              <a:buChar char="−"/>
              <a:defRPr sz="24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2pPr>
            <a:lvl3pPr marL="1143000" indent="-228600">
              <a:spcBef>
                <a:spcPct val="25000"/>
              </a:spcBef>
              <a:buChar char="•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3pPr>
            <a:lvl4pPr marL="1600200" indent="-228600">
              <a:spcBef>
                <a:spcPct val="25000"/>
              </a:spcBef>
              <a:buChar char="–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4pPr>
            <a:lvl5pPr marL="2057400" indent="-228600">
              <a:spcBef>
                <a:spcPct val="25000"/>
              </a:spcBef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har char="»"/>
              <a:defRPr sz="2100">
                <a:solidFill>
                  <a:schemeClr val="bg1"/>
                </a:solidFill>
                <a:latin typeface="Arial" panose="020B0604020202020204" pitchFamily="34" charset="0"/>
                <a:ea typeface="ヒラギノ角ゴ Pro W3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/>
              <a:t>© Jones &amp; Bartlett Learning.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34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cs typeface="ヒラギノ角ゴ Pro W3" charset="0"/>
              </a:rPr>
              <a:t>Temporomandibular Joint Disorders</a:t>
            </a:r>
          </a:p>
        </p:txBody>
      </p:sp>
      <p:sp>
        <p:nvSpPr>
          <p:cNvPr id="10649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Assessment and management</a:t>
            </a:r>
          </a:p>
          <a:p>
            <a:pPr lvl="1"/>
            <a:r>
              <a:rPr lang="en-US" altLang="en-US" dirty="0" smtClean="0"/>
              <a:t>Symptoms may include:</a:t>
            </a:r>
          </a:p>
          <a:p>
            <a:pPr lvl="2"/>
            <a:r>
              <a:rPr lang="en-US" altLang="en-US" sz="2200" dirty="0" smtClean="0"/>
              <a:t>Headache</a:t>
            </a:r>
          </a:p>
          <a:p>
            <a:pPr lvl="2"/>
            <a:r>
              <a:rPr lang="en-US" altLang="en-US" sz="2200" dirty="0" smtClean="0"/>
              <a:t>Jaw pain</a:t>
            </a:r>
          </a:p>
          <a:p>
            <a:pPr lvl="2"/>
            <a:r>
              <a:rPr lang="en-US" altLang="en-US" sz="2200" dirty="0" smtClean="0"/>
              <a:t>Difficulty chewing</a:t>
            </a:r>
          </a:p>
          <a:p>
            <a:pPr lvl="2"/>
            <a:r>
              <a:rPr lang="en-US" altLang="en-US" sz="2200" dirty="0" smtClean="0"/>
              <a:t>Locking of the </a:t>
            </a:r>
            <a:r>
              <a:rPr lang="en-US" altLang="en-US" sz="2200" dirty="0" smtClean="0"/>
              <a:t>joint</a:t>
            </a:r>
          </a:p>
          <a:p>
            <a:pPr lvl="1"/>
            <a:r>
              <a:rPr lang="en-US" altLang="en-US" sz="2500" dirty="0" smtClean="0"/>
              <a:t>Managed by a physician or dentist</a:t>
            </a:r>
            <a:endParaRPr lang="en-US" altLang="en-US" sz="25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ICTUREPATH" val="CAROLINE_PPT_PRODUCTIO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TYPE_IMAGE" val="Text Box 3"/>
  <p:tag name="STICKYSTYLE" val="Caroline FIG STROKE"/>
</p:tagLst>
</file>

<file path=ppt/theme/theme1.xml><?xml version="1.0" encoding="utf-8"?>
<a:theme xmlns:a="http://schemas.openxmlformats.org/drawingml/2006/main" name="design_template">
  <a:themeElements>
    <a:clrScheme name="design_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sign_template">
      <a:majorFont>
        <a:latin typeface="Arial"/>
        <a:ea typeface="ヒラギノ角ゴ Pro W3"/>
        <a:cs typeface=""/>
      </a:majorFont>
      <a:minorFont>
        <a:latin typeface="Arial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27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" charset="0"/>
            <a:ea typeface="ヒラギノ角ゴ Pro W3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FFFF">
            <a:alpha val="27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" charset="0"/>
            <a:ea typeface="ヒラギノ角ゴ Pro W3" pitchFamily="1" charset="-128"/>
          </a:defRPr>
        </a:defPPr>
      </a:lstStyle>
    </a:lnDef>
  </a:objectDefaults>
  <a:extraClrSchemeLst>
    <a:extraClrScheme>
      <a:clrScheme name="design_templat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_templat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_templat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_templat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18058</TotalTime>
  <Words>3834</Words>
  <Application>Microsoft Office PowerPoint</Application>
  <PresentationFormat>On-screen Show (4:3)</PresentationFormat>
  <Paragraphs>1826</Paragraphs>
  <Slides>105</Slides>
  <Notes>105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105</vt:i4>
      </vt:variant>
    </vt:vector>
  </HeadingPairs>
  <TitlesOfParts>
    <vt:vector size="113" baseType="lpstr">
      <vt:lpstr>MS PGothic</vt:lpstr>
      <vt:lpstr>Arial</vt:lpstr>
      <vt:lpstr>Berkeley-Book</vt:lpstr>
      <vt:lpstr>Calibri</vt:lpstr>
      <vt:lpstr>Lucida Grande</vt:lpstr>
      <vt:lpstr>Times New Roman</vt:lpstr>
      <vt:lpstr>ヒラギノ角ゴ Pro W3</vt:lpstr>
      <vt:lpstr>design_template</vt:lpstr>
      <vt:lpstr>PowerPoint Presentation</vt:lpstr>
      <vt:lpstr>National EMS Education Standard Competencies</vt:lpstr>
      <vt:lpstr>National EMS Education Standard Competencies</vt:lpstr>
      <vt:lpstr>Introduction</vt:lpstr>
      <vt:lpstr>The Eyes: Anatomy and Physiology Review</vt:lpstr>
      <vt:lpstr>The Eyes: Anatomy and Physiology Review</vt:lpstr>
      <vt:lpstr>The Eyes: Anatomy and Physiology Review</vt:lpstr>
      <vt:lpstr>Patient Assessment</vt:lpstr>
      <vt:lpstr>Patient Assessment</vt:lpstr>
      <vt:lpstr>Patient Assessment</vt:lpstr>
      <vt:lpstr>Patient Assessment</vt:lpstr>
      <vt:lpstr>Patient Assessment</vt:lpstr>
      <vt:lpstr>Patient Assessment</vt:lpstr>
      <vt:lpstr>Patient Assessment</vt:lpstr>
      <vt:lpstr>Patient Assessment</vt:lpstr>
      <vt:lpstr>Patient Assessment</vt:lpstr>
      <vt:lpstr>Contact Lenses</vt:lpstr>
      <vt:lpstr>Contact Lenses</vt:lpstr>
      <vt:lpstr>Contact Lenses</vt:lpstr>
      <vt:lpstr>Eye Prosthesis</vt:lpstr>
      <vt:lpstr>Use of Ophthalmoscope</vt:lpstr>
      <vt:lpstr>Conjunctivitis</vt:lpstr>
      <vt:lpstr>Conjunctivitis</vt:lpstr>
      <vt:lpstr>Inflammation of the Eyelid (Chalazion and Hordeolum)</vt:lpstr>
      <vt:lpstr>Inflammation of the Eyelid (Chalazion and Hordeolum)</vt:lpstr>
      <vt:lpstr>Glaucoma</vt:lpstr>
      <vt:lpstr>Glaucoma</vt:lpstr>
      <vt:lpstr>Central Retinal Artery Occlusion</vt:lpstr>
      <vt:lpstr>Iritis</vt:lpstr>
      <vt:lpstr>Iritis</vt:lpstr>
      <vt:lpstr>Papilledema</vt:lpstr>
      <vt:lpstr>Papilledema</vt:lpstr>
      <vt:lpstr>Papilledema</vt:lpstr>
      <vt:lpstr>Cellulitis of the Orbit</vt:lpstr>
      <vt:lpstr>Cellulitis of the Orbit</vt:lpstr>
      <vt:lpstr>Corneal Abrasion</vt:lpstr>
      <vt:lpstr>Corneal Abrasion</vt:lpstr>
      <vt:lpstr>Corneal Abrasion</vt:lpstr>
      <vt:lpstr>The Ears</vt:lpstr>
      <vt:lpstr>Anatomy and Physiology Review</vt:lpstr>
      <vt:lpstr>Anatomy and Physiology Review</vt:lpstr>
      <vt:lpstr>Patient Assessment</vt:lpstr>
      <vt:lpstr>Patient Assessment</vt:lpstr>
      <vt:lpstr>Patient Assessment</vt:lpstr>
      <vt:lpstr>Use of an Otoscope</vt:lpstr>
      <vt:lpstr>Impacted Cerumen</vt:lpstr>
      <vt:lpstr>Impacted Cerumen</vt:lpstr>
      <vt:lpstr>Impacted Cerumen</vt:lpstr>
      <vt:lpstr>Labyrinthitis</vt:lpstr>
      <vt:lpstr>Labyrinthitis</vt:lpstr>
      <vt:lpstr>Meniere Disease</vt:lpstr>
      <vt:lpstr>Meniere Disease</vt:lpstr>
      <vt:lpstr>Otitis Externa and Media</vt:lpstr>
      <vt:lpstr>Otitis Externa and Media</vt:lpstr>
      <vt:lpstr>The Nose</vt:lpstr>
      <vt:lpstr>The Nose</vt:lpstr>
      <vt:lpstr>Anatomy and Physiology Review</vt:lpstr>
      <vt:lpstr>Anatomy and Physiology Review</vt:lpstr>
      <vt:lpstr>Patient Assessment</vt:lpstr>
      <vt:lpstr>Patient Assessment</vt:lpstr>
      <vt:lpstr>Epistaxis</vt:lpstr>
      <vt:lpstr>Epistaxis</vt:lpstr>
      <vt:lpstr>Epistaxis</vt:lpstr>
      <vt:lpstr>Foreign Body</vt:lpstr>
      <vt:lpstr>Foreign Body</vt:lpstr>
      <vt:lpstr>Rhinitis</vt:lpstr>
      <vt:lpstr>Rhinitis</vt:lpstr>
      <vt:lpstr>Sinusitis</vt:lpstr>
      <vt:lpstr>Sinusitis</vt:lpstr>
      <vt:lpstr>The Throat</vt:lpstr>
      <vt:lpstr>The Throat</vt:lpstr>
      <vt:lpstr>Anatomy and Physiology Review</vt:lpstr>
      <vt:lpstr>The Mouth</vt:lpstr>
      <vt:lpstr>The Neck</vt:lpstr>
      <vt:lpstr>The Neck</vt:lpstr>
      <vt:lpstr>The Neck</vt:lpstr>
      <vt:lpstr>Patient Assessment</vt:lpstr>
      <vt:lpstr>Dentalgia and Dental Abscess</vt:lpstr>
      <vt:lpstr>Dentalgia and Dental Abscess</vt:lpstr>
      <vt:lpstr>Diseases of Oral Soft Tissue</vt:lpstr>
      <vt:lpstr>Diseases of Oral Soft Tissue</vt:lpstr>
      <vt:lpstr>Oral Candidiasis (Thrush)</vt:lpstr>
      <vt:lpstr>Oral Candidiasis (Thrush)</vt:lpstr>
      <vt:lpstr>Oral Candidiasis (Thrush)</vt:lpstr>
      <vt:lpstr>Oral Candidiasis (Thrush)</vt:lpstr>
      <vt:lpstr>Ludwig Angina</vt:lpstr>
      <vt:lpstr>Ludwig Angina</vt:lpstr>
      <vt:lpstr>Ludwig Angina</vt:lpstr>
      <vt:lpstr>Epiglottitis</vt:lpstr>
      <vt:lpstr>Epiglottis</vt:lpstr>
      <vt:lpstr>Epiglottitis</vt:lpstr>
      <vt:lpstr>Laryngitis</vt:lpstr>
      <vt:lpstr>Laryngitis</vt:lpstr>
      <vt:lpstr>Tracheitis</vt:lpstr>
      <vt:lpstr>Tracheitis</vt:lpstr>
      <vt:lpstr>Tracheitis</vt:lpstr>
      <vt:lpstr>Tonsillitis</vt:lpstr>
      <vt:lpstr>Tonsillitis</vt:lpstr>
      <vt:lpstr>Pharyngitis</vt:lpstr>
      <vt:lpstr>Pharyngitis</vt:lpstr>
      <vt:lpstr>Peritonsillar Abscess</vt:lpstr>
      <vt:lpstr>Peritonsillar Abscess</vt:lpstr>
      <vt:lpstr>Peritonsillar Abscess</vt:lpstr>
      <vt:lpstr>Temporomandibular Joint Disorders</vt:lpstr>
      <vt:lpstr>Temporomandibular Joint Disorders</vt:lpstr>
    </vt:vector>
  </TitlesOfParts>
  <Company>Copyright Jones &amp; Bartlett Learning, an Ascend Learning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19: Diseases of the Eyes, Ears, Nose, and Throat</dc:title>
  <dc:subject>Nancy Caroline's Emergency Care in the Streets, Seventh Edition</dc:subject>
  <dc:creator>Copyright Jones &amp; Bartlett Learning, an Ascend Learning company</dc:creator>
  <cp:lastModifiedBy>Ashley Procum</cp:lastModifiedBy>
  <cp:revision>1415</cp:revision>
  <dcterms:created xsi:type="dcterms:W3CDTF">2011-04-20T13:41:37Z</dcterms:created>
  <dcterms:modified xsi:type="dcterms:W3CDTF">2017-07-28T20:09:36Z</dcterms:modified>
</cp:coreProperties>
</file>